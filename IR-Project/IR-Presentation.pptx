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lear Sans Bold" charset="1" panose="020B0803030202020304"/>
      <p:regular r:id="rId16"/>
    </p:embeddedFont>
    <p:embeddedFont>
      <p:font typeface="Clear Sans" charset="1" panose="020B0503030202020304"/>
      <p:regular r:id="rId17"/>
    </p:embeddedFont>
    <p:embeddedFont>
      <p:font typeface="Clear Sans Medium" charset="1" panose="020B0603030202020304"/>
      <p:regular r:id="rId18"/>
    </p:embeddedFont>
    <p:embeddedFont>
      <p:font typeface="Canva Sans" charset="1" panose="020B05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https://public.tableau.com/app/profile/ghazal.almidana/viz/InformationRetieval/Dashboard1" TargetMode="External" Type="http://schemas.openxmlformats.org/officeDocument/2006/relationships/hyperlink"/><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grpSp>
        <p:nvGrpSpPr>
          <p:cNvPr name="Group 2" id="2"/>
          <p:cNvGrpSpPr/>
          <p:nvPr/>
        </p:nvGrpSpPr>
        <p:grpSpPr>
          <a:xfrm rot="0">
            <a:off x="9144000" y="2829055"/>
            <a:ext cx="8217084" cy="4817337"/>
            <a:chOff x="0" y="0"/>
            <a:chExt cx="10956112" cy="6423116"/>
          </a:xfrm>
        </p:grpSpPr>
        <p:sp>
          <p:nvSpPr>
            <p:cNvPr name="TextBox 3" id="3"/>
            <p:cNvSpPr txBox="true"/>
            <p:nvPr/>
          </p:nvSpPr>
          <p:spPr>
            <a:xfrm rot="0">
              <a:off x="0" y="1368999"/>
              <a:ext cx="10956112" cy="2820459"/>
            </a:xfrm>
            <a:prstGeom prst="rect">
              <a:avLst/>
            </a:prstGeom>
          </p:spPr>
          <p:txBody>
            <a:bodyPr anchor="t" rtlCol="false" tIns="0" lIns="0" bIns="0" rIns="0">
              <a:spAutoFit/>
            </a:bodyPr>
            <a:lstStyle/>
            <a:p>
              <a:pPr algn="l">
                <a:lnSpc>
                  <a:spcPts val="8000"/>
                </a:lnSpc>
              </a:pPr>
              <a:r>
                <a:rPr lang="en-US" sz="8000">
                  <a:solidFill>
                    <a:srgbClr val="F7B4A7"/>
                  </a:solidFill>
                  <a:latin typeface="Clear Sans Bold"/>
                </a:rPr>
                <a:t>Information Retrieval System </a:t>
              </a:r>
            </a:p>
          </p:txBody>
        </p:sp>
        <p:sp>
          <p:nvSpPr>
            <p:cNvPr name="TextBox 4" id="4"/>
            <p:cNvSpPr txBox="true"/>
            <p:nvPr/>
          </p:nvSpPr>
          <p:spPr>
            <a:xfrm rot="0">
              <a:off x="0" y="-47625"/>
              <a:ext cx="10956112" cy="525145"/>
            </a:xfrm>
            <a:prstGeom prst="rect">
              <a:avLst/>
            </a:prstGeom>
          </p:spPr>
          <p:txBody>
            <a:bodyPr anchor="t" rtlCol="false" tIns="0" lIns="0" bIns="0" rIns="0">
              <a:spAutoFit/>
            </a:bodyPr>
            <a:lstStyle/>
            <a:p>
              <a:pPr algn="l">
                <a:lnSpc>
                  <a:spcPts val="3359"/>
                </a:lnSpc>
              </a:pPr>
            </a:p>
          </p:txBody>
        </p:sp>
        <p:sp>
          <p:nvSpPr>
            <p:cNvPr name="TextBox 5" id="5"/>
            <p:cNvSpPr txBox="true"/>
            <p:nvPr/>
          </p:nvSpPr>
          <p:spPr>
            <a:xfrm rot="0">
              <a:off x="0" y="4871387"/>
              <a:ext cx="10956112" cy="1551728"/>
            </a:xfrm>
            <a:prstGeom prst="rect">
              <a:avLst/>
            </a:prstGeom>
          </p:spPr>
          <p:txBody>
            <a:bodyPr anchor="t" rtlCol="false" tIns="0" lIns="0" bIns="0" rIns="0">
              <a:spAutoFit/>
            </a:bodyPr>
            <a:lstStyle/>
            <a:p>
              <a:pPr algn="l">
                <a:lnSpc>
                  <a:spcPts val="4759"/>
                </a:lnSpc>
              </a:pPr>
              <a:r>
                <a:rPr lang="en-US" sz="3399">
                  <a:solidFill>
                    <a:srgbClr val="94DDDE"/>
                  </a:solidFill>
                  <a:latin typeface="Clear Sans"/>
                </a:rPr>
                <a:t>A look at a System with the use of TF-IDF vs Non.</a:t>
              </a:r>
            </a:p>
          </p:txBody>
        </p:sp>
      </p:grpSp>
      <p:sp>
        <p:nvSpPr>
          <p:cNvPr name="Freeform 6" id="6"/>
          <p:cNvSpPr/>
          <p:nvPr/>
        </p:nvSpPr>
        <p:spPr>
          <a:xfrm flipH="false" flipV="false" rot="0">
            <a:off x="1182834" y="-1921745"/>
            <a:ext cx="6755642" cy="4114800"/>
          </a:xfrm>
          <a:custGeom>
            <a:avLst/>
            <a:gdLst/>
            <a:ahLst/>
            <a:cxnLst/>
            <a:rect r="r" b="b" t="t" l="l"/>
            <a:pathLst>
              <a:path h="4114800" w="6755642">
                <a:moveTo>
                  <a:pt x="0" y="0"/>
                </a:moveTo>
                <a:lnTo>
                  <a:pt x="6755642" y="0"/>
                </a:lnTo>
                <a:lnTo>
                  <a:pt x="675564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6303834" y="1790711"/>
            <a:ext cx="1194327" cy="2586142"/>
          </a:xfrm>
          <a:custGeom>
            <a:avLst/>
            <a:gdLst/>
            <a:ahLst/>
            <a:cxnLst/>
            <a:rect r="r" b="b" t="t" l="l"/>
            <a:pathLst>
              <a:path h="2586142" w="1194327">
                <a:moveTo>
                  <a:pt x="0" y="0"/>
                </a:moveTo>
                <a:lnTo>
                  <a:pt x="1194327" y="0"/>
                </a:lnTo>
                <a:lnTo>
                  <a:pt x="1194327" y="2586142"/>
                </a:lnTo>
                <a:lnTo>
                  <a:pt x="0" y="2586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2095190" y="2021154"/>
            <a:ext cx="5357753" cy="5591583"/>
          </a:xfrm>
          <a:custGeom>
            <a:avLst/>
            <a:gdLst/>
            <a:ahLst/>
            <a:cxnLst/>
            <a:rect r="r" b="b" t="t" l="l"/>
            <a:pathLst>
              <a:path h="5591583" w="5357753">
                <a:moveTo>
                  <a:pt x="5357753" y="0"/>
                </a:moveTo>
                <a:lnTo>
                  <a:pt x="0" y="0"/>
                </a:lnTo>
                <a:lnTo>
                  <a:pt x="0" y="5591582"/>
                </a:lnTo>
                <a:lnTo>
                  <a:pt x="5357753" y="5591582"/>
                </a:lnTo>
                <a:lnTo>
                  <a:pt x="535775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47148" y="1264426"/>
            <a:ext cx="3144039" cy="2440918"/>
          </a:xfrm>
          <a:custGeom>
            <a:avLst/>
            <a:gdLst/>
            <a:ahLst/>
            <a:cxnLst/>
            <a:rect r="r" b="b" t="t" l="l"/>
            <a:pathLst>
              <a:path h="2440918" w="3144039">
                <a:moveTo>
                  <a:pt x="0" y="0"/>
                </a:moveTo>
                <a:lnTo>
                  <a:pt x="3144040" y="0"/>
                </a:lnTo>
                <a:lnTo>
                  <a:pt x="3144040" y="2440918"/>
                </a:lnTo>
                <a:lnTo>
                  <a:pt x="0" y="24409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44824" y="7200900"/>
            <a:ext cx="3486358" cy="4114800"/>
          </a:xfrm>
          <a:custGeom>
            <a:avLst/>
            <a:gdLst/>
            <a:ahLst/>
            <a:cxnLst/>
            <a:rect r="r" b="b" t="t" l="l"/>
            <a:pathLst>
              <a:path h="4114800" w="3486358">
                <a:moveTo>
                  <a:pt x="0" y="0"/>
                </a:moveTo>
                <a:lnTo>
                  <a:pt x="3486358" y="0"/>
                </a:lnTo>
                <a:lnTo>
                  <a:pt x="348635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grpSp>
        <p:nvGrpSpPr>
          <p:cNvPr name="Group 2" id="2"/>
          <p:cNvGrpSpPr/>
          <p:nvPr/>
        </p:nvGrpSpPr>
        <p:grpSpPr>
          <a:xfrm rot="0">
            <a:off x="1309758" y="1817226"/>
            <a:ext cx="6060519" cy="6652549"/>
            <a:chOff x="0" y="0"/>
            <a:chExt cx="8080692" cy="8870065"/>
          </a:xfrm>
        </p:grpSpPr>
        <p:sp>
          <p:nvSpPr>
            <p:cNvPr name="Freeform 3" id="3"/>
            <p:cNvSpPr/>
            <p:nvPr/>
          </p:nvSpPr>
          <p:spPr>
            <a:xfrm flipH="false" flipV="false" rot="0">
              <a:off x="0" y="0"/>
              <a:ext cx="5166060" cy="6830128"/>
            </a:xfrm>
            <a:custGeom>
              <a:avLst/>
              <a:gdLst/>
              <a:ahLst/>
              <a:cxnLst/>
              <a:rect r="r" b="b" t="t" l="l"/>
              <a:pathLst>
                <a:path h="6830128" w="5166060">
                  <a:moveTo>
                    <a:pt x="0" y="0"/>
                  </a:moveTo>
                  <a:lnTo>
                    <a:pt x="5166060" y="0"/>
                  </a:lnTo>
                  <a:lnTo>
                    <a:pt x="5166060" y="6830128"/>
                  </a:lnTo>
                  <a:lnTo>
                    <a:pt x="0" y="68301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28290" y="1054304"/>
              <a:ext cx="5166060" cy="6830128"/>
            </a:xfrm>
            <a:custGeom>
              <a:avLst/>
              <a:gdLst/>
              <a:ahLst/>
              <a:cxnLst/>
              <a:rect r="r" b="b" t="t" l="l"/>
              <a:pathLst>
                <a:path h="6830128" w="5166060">
                  <a:moveTo>
                    <a:pt x="0" y="0"/>
                  </a:moveTo>
                  <a:lnTo>
                    <a:pt x="5166060" y="0"/>
                  </a:lnTo>
                  <a:lnTo>
                    <a:pt x="5166060" y="6830128"/>
                  </a:lnTo>
                  <a:lnTo>
                    <a:pt x="0" y="68301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914631" y="2039937"/>
              <a:ext cx="5166060" cy="6830128"/>
            </a:xfrm>
            <a:custGeom>
              <a:avLst/>
              <a:gdLst/>
              <a:ahLst/>
              <a:cxnLst/>
              <a:rect r="r" b="b" t="t" l="l"/>
              <a:pathLst>
                <a:path h="6830128" w="5166060">
                  <a:moveTo>
                    <a:pt x="0" y="0"/>
                  </a:moveTo>
                  <a:lnTo>
                    <a:pt x="5166061" y="0"/>
                  </a:lnTo>
                  <a:lnTo>
                    <a:pt x="5166061" y="6830128"/>
                  </a:lnTo>
                  <a:lnTo>
                    <a:pt x="0" y="68301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aphicFrame>
        <p:nvGraphicFramePr>
          <p:cNvPr name="Table 6" id="6"/>
          <p:cNvGraphicFramePr>
            <a:graphicFrameLocks noGrp="true"/>
          </p:cNvGraphicFramePr>
          <p:nvPr/>
        </p:nvGraphicFramePr>
        <p:xfrm>
          <a:off x="8627676" y="1028700"/>
          <a:ext cx="8900153" cy="8326044"/>
        </p:xfrm>
        <a:graphic>
          <a:graphicData uri="http://schemas.openxmlformats.org/drawingml/2006/table">
            <a:tbl>
              <a:tblPr/>
              <a:tblGrid>
                <a:gridCol w="8900153"/>
              </a:tblGrid>
              <a:tr h="1556711">
                <a:tc>
                  <a:txBody>
                    <a:bodyPr anchor="t" rtlCol="false"/>
                    <a:lstStyle/>
                    <a:p>
                      <a:pPr algn="l">
                        <a:lnSpc>
                          <a:spcPts val="4060"/>
                        </a:lnSpc>
                        <a:defRPr/>
                      </a:pPr>
                      <a:r>
                        <a:rPr lang="en-US" sz="2900">
                          <a:solidFill>
                            <a:srgbClr val="94DDDE"/>
                          </a:solidFill>
                          <a:latin typeface="Clear Sans"/>
                        </a:rPr>
                        <a:t>THE DATASET USED TO TEST THE SYSTEM:</a:t>
                      </a:r>
                      <a:endParaRPr lang="en-US" sz="1100"/>
                    </a:p>
                  </a:txBody>
                  <a:tcPr marL="190500" marR="190500" marT="190500" marB="190500" anchor="ctr">
                    <a:lnL cmpd="sng" algn="ctr" cap="flat" w="66675">
                      <a:solidFill>
                        <a:srgbClr val="2B4B82"/>
                      </a:solidFill>
                      <a:prstDash val="solid"/>
                      <a:round/>
                      <a:headEnd type="none" w="med" len="med"/>
                      <a:tailEnd type="none" w="med" len="med"/>
                    </a:lnL>
                    <a:lnR cmpd="sng" algn="ctr" cap="flat" w="66675">
                      <a:solidFill>
                        <a:srgbClr val="2B4B82"/>
                      </a:solidFill>
                      <a:prstDash val="solid"/>
                      <a:round/>
                      <a:headEnd type="none" w="med" len="med"/>
                      <a:tailEnd type="none" w="med" len="med"/>
                    </a:lnR>
                    <a:lnT cmpd="sng" algn="ctr" cap="flat" w="66675">
                      <a:solidFill>
                        <a:srgbClr val="2B4B82"/>
                      </a:solidFill>
                      <a:prstDash val="solid"/>
                      <a:round/>
                      <a:headEnd type="none" w="med" len="med"/>
                      <a:tailEnd type="none" w="med" len="med"/>
                    </a:lnT>
                    <a:lnB cmpd="sng" algn="ctr" cap="flat" w="66675">
                      <a:solidFill>
                        <a:srgbClr val="2B4B82"/>
                      </a:solidFill>
                      <a:prstDash val="solid"/>
                      <a:round/>
                      <a:headEnd type="none" w="med" len="med"/>
                      <a:tailEnd type="none" w="med" len="med"/>
                    </a:lnB>
                  </a:tcPr>
                </a:tc>
              </a:tr>
              <a:tr h="2093212">
                <a:tc>
                  <a:txBody>
                    <a:bodyPr anchor="t" rtlCol="false"/>
                    <a:lstStyle/>
                    <a:p>
                      <a:pPr algn="l">
                        <a:lnSpc>
                          <a:spcPts val="11340"/>
                        </a:lnSpc>
                        <a:defRPr/>
                      </a:pPr>
                      <a:r>
                        <a:rPr lang="en-US" sz="8100">
                          <a:solidFill>
                            <a:srgbClr val="F7B4A7"/>
                          </a:solidFill>
                          <a:latin typeface="Clear Sans Bold"/>
                        </a:rPr>
                        <a:t>Dataset</a:t>
                      </a:r>
                      <a:endParaRPr lang="en-US" sz="1100"/>
                    </a:p>
                  </a:txBody>
                  <a:tcPr marL="190500" marR="190500" marT="190500" marB="190500" anchor="ctr">
                    <a:lnL cmpd="sng" algn="ctr" cap="flat" w="66675">
                      <a:solidFill>
                        <a:srgbClr val="2B4B82"/>
                      </a:solidFill>
                      <a:prstDash val="solid"/>
                      <a:round/>
                      <a:headEnd type="none" w="med" len="med"/>
                      <a:tailEnd type="none" w="med" len="med"/>
                    </a:lnL>
                    <a:lnR cmpd="sng" algn="ctr" cap="flat" w="66675">
                      <a:solidFill>
                        <a:srgbClr val="2B4B82"/>
                      </a:solidFill>
                      <a:prstDash val="solid"/>
                      <a:round/>
                      <a:headEnd type="none" w="med" len="med"/>
                      <a:tailEnd type="none" w="med" len="med"/>
                    </a:lnR>
                    <a:lnT cmpd="sng" algn="ctr" cap="flat" w="66675">
                      <a:solidFill>
                        <a:srgbClr val="2B4B82"/>
                      </a:solidFill>
                      <a:prstDash val="solid"/>
                      <a:round/>
                      <a:headEnd type="none" w="med" len="med"/>
                      <a:tailEnd type="none" w="med" len="med"/>
                    </a:lnT>
                    <a:lnB cmpd="sng" algn="ctr" cap="flat" w="66675">
                      <a:solidFill>
                        <a:srgbClr val="2B4B82"/>
                      </a:solidFill>
                      <a:prstDash val="solid"/>
                      <a:round/>
                      <a:headEnd type="none" w="med" len="med"/>
                      <a:tailEnd type="none" w="med" len="med"/>
                    </a:lnB>
                  </a:tcPr>
                </a:tc>
              </a:tr>
              <a:tr h="4676121">
                <a:tc>
                  <a:txBody>
                    <a:bodyPr anchor="t" rtlCol="false"/>
                    <a:lstStyle/>
                    <a:p>
                      <a:pPr algn="l" marL="626111" indent="-313055" lvl="1">
                        <a:lnSpc>
                          <a:spcPts val="4060"/>
                        </a:lnSpc>
                        <a:buFont typeface="Arial"/>
                        <a:buChar char="•"/>
                        <a:defRPr/>
                      </a:pPr>
                      <a:r>
                        <a:rPr lang="en-US" sz="2900">
                          <a:solidFill>
                            <a:srgbClr val="94DDDE"/>
                          </a:solidFill>
                          <a:latin typeface="Clear Sans"/>
                        </a:rPr>
                        <a:t>News paper Dataset.</a:t>
                      </a:r>
                      <a:endParaRPr lang="en-US" sz="1100"/>
                    </a:p>
                    <a:p>
                      <a:pPr algn="l" marL="626111" indent="-313055" lvl="1">
                        <a:lnSpc>
                          <a:spcPts val="4060"/>
                        </a:lnSpc>
                        <a:buFont typeface="Arial"/>
                        <a:buChar char="•"/>
                      </a:pPr>
                      <a:r>
                        <a:rPr lang="en-US" sz="2900">
                          <a:solidFill>
                            <a:srgbClr val="94DDDE"/>
                          </a:solidFill>
                          <a:latin typeface="Clear Sans"/>
                        </a:rPr>
                        <a:t>Contains over 20 documents.</a:t>
                      </a:r>
                    </a:p>
                    <a:p>
                      <a:pPr algn="l" marL="626111" indent="-313055" lvl="1">
                        <a:lnSpc>
                          <a:spcPts val="4060"/>
                        </a:lnSpc>
                        <a:buFont typeface="Arial"/>
                        <a:buChar char="•"/>
                      </a:pPr>
                      <a:r>
                        <a:rPr lang="en-US" sz="2900">
                          <a:solidFill>
                            <a:srgbClr val="94DDDE"/>
                          </a:solidFill>
                          <a:latin typeface="Clear Sans"/>
                        </a:rPr>
                        <a:t>Each document has at least 25,000 lines or more.</a:t>
                      </a:r>
                    </a:p>
                    <a:p>
                      <a:pPr algn="l" marL="626111" indent="-313055" lvl="1">
                        <a:lnSpc>
                          <a:spcPts val="4060"/>
                        </a:lnSpc>
                        <a:buFont typeface="Arial"/>
                        <a:buChar char="•"/>
                      </a:pPr>
                      <a:r>
                        <a:rPr lang="en-US" sz="2900">
                          <a:solidFill>
                            <a:srgbClr val="94DDDE"/>
                          </a:solidFill>
                          <a:latin typeface="Clear Sans"/>
                        </a:rPr>
                        <a:t>Multiple newspaper sites.</a:t>
                      </a:r>
                    </a:p>
                    <a:p>
                      <a:pPr algn="l" marL="626111" indent="-313055" lvl="1">
                        <a:lnSpc>
                          <a:spcPts val="4060"/>
                        </a:lnSpc>
                        <a:buFont typeface="Arial"/>
                        <a:buChar char="•"/>
                      </a:pPr>
                      <a:r>
                        <a:rPr lang="en-US" sz="2900">
                          <a:solidFill>
                            <a:srgbClr val="94DDDE"/>
                          </a:solidFill>
                          <a:latin typeface="Clear Sans"/>
                        </a:rPr>
                        <a:t>6 Documents were used to test.</a:t>
                      </a:r>
                    </a:p>
                    <a:p>
                      <a:pPr algn="l" marL="626111" indent="-313055" lvl="1">
                        <a:lnSpc>
                          <a:spcPts val="4060"/>
                        </a:lnSpc>
                        <a:buFont typeface="Arial"/>
                        <a:buChar char="•"/>
                      </a:pPr>
                      <a:r>
                        <a:rPr lang="en-US" sz="2900">
                          <a:solidFill>
                            <a:srgbClr val="94DDDE"/>
                          </a:solidFill>
                          <a:latin typeface="Clear Sans"/>
                        </a:rPr>
                        <a:t>Topics like: Science, Cars, Medicine, Religion and many more.</a:t>
                      </a:r>
                    </a:p>
                  </a:txBody>
                  <a:tcPr marL="190500" marR="190500" marT="190500" marB="190500" anchor="ctr">
                    <a:lnL cmpd="sng" algn="ctr" cap="flat" w="66675">
                      <a:solidFill>
                        <a:srgbClr val="2B4B82"/>
                      </a:solidFill>
                      <a:prstDash val="solid"/>
                      <a:round/>
                      <a:headEnd type="none" w="med" len="med"/>
                      <a:tailEnd type="none" w="med" len="med"/>
                    </a:lnL>
                    <a:lnR cmpd="sng" algn="ctr" cap="flat" w="66675">
                      <a:solidFill>
                        <a:srgbClr val="2B4B82"/>
                      </a:solidFill>
                      <a:prstDash val="solid"/>
                      <a:round/>
                      <a:headEnd type="none" w="med" len="med"/>
                      <a:tailEnd type="none" w="med" len="med"/>
                    </a:lnR>
                    <a:lnT cmpd="sng" algn="ctr" cap="flat" w="66675">
                      <a:solidFill>
                        <a:srgbClr val="2B4B82"/>
                      </a:solidFill>
                      <a:prstDash val="solid"/>
                      <a:round/>
                      <a:headEnd type="none" w="med" len="med"/>
                      <a:tailEnd type="none" w="med" len="med"/>
                    </a:lnT>
                    <a:lnB cmpd="sng" algn="ctr" cap="flat" w="66675">
                      <a:solidFill>
                        <a:srgbClr val="2B4B82"/>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76325" y="1114425"/>
            <a:ext cx="16135350" cy="883920"/>
          </a:xfrm>
          <a:prstGeom prst="rect">
            <a:avLst/>
          </a:prstGeom>
        </p:spPr>
        <p:txBody>
          <a:bodyPr anchor="t" rtlCol="false" tIns="0" lIns="0" bIns="0" rIns="0">
            <a:spAutoFit/>
          </a:bodyPr>
          <a:lstStyle/>
          <a:p>
            <a:pPr algn="ctr">
              <a:lnSpc>
                <a:spcPts val="6719"/>
              </a:lnSpc>
            </a:pPr>
            <a:r>
              <a:rPr lang="en-US" sz="6399">
                <a:solidFill>
                  <a:srgbClr val="2B4B82"/>
                </a:solidFill>
                <a:latin typeface="Clear Sans Bold"/>
              </a:rPr>
              <a:t>The Steps of the Retrieval System:</a:t>
            </a:r>
          </a:p>
        </p:txBody>
      </p:sp>
      <p:grpSp>
        <p:nvGrpSpPr>
          <p:cNvPr name="Group 3" id="3"/>
          <p:cNvGrpSpPr/>
          <p:nvPr/>
        </p:nvGrpSpPr>
        <p:grpSpPr>
          <a:xfrm rot="0">
            <a:off x="2824365" y="3371020"/>
            <a:ext cx="3416628" cy="3929495"/>
            <a:chOff x="0" y="0"/>
            <a:chExt cx="4555503" cy="5239326"/>
          </a:xfrm>
        </p:grpSpPr>
        <p:sp>
          <p:nvSpPr>
            <p:cNvPr name="AutoShape 4" id="4"/>
            <p:cNvSpPr/>
            <p:nvPr/>
          </p:nvSpPr>
          <p:spPr>
            <a:xfrm>
              <a:off x="0" y="589349"/>
              <a:ext cx="2353916" cy="0"/>
            </a:xfrm>
            <a:prstGeom prst="line">
              <a:avLst/>
            </a:prstGeom>
            <a:ln cap="flat" w="38100">
              <a:solidFill>
                <a:srgbClr val="31356E"/>
              </a:solidFill>
              <a:prstDash val="solid"/>
              <a:headEnd type="none" len="sm" w="sm"/>
              <a:tailEnd type="none" len="sm" w="sm"/>
            </a:ln>
          </p:spPr>
        </p:sp>
        <p:grpSp>
          <p:nvGrpSpPr>
            <p:cNvPr name="Group 5" id="5"/>
            <p:cNvGrpSpPr/>
            <p:nvPr/>
          </p:nvGrpSpPr>
          <p:grpSpPr>
            <a:xfrm rot="0">
              <a:off x="2353916" y="0"/>
              <a:ext cx="1200950" cy="1178699"/>
              <a:chOff x="0" y="0"/>
              <a:chExt cx="825825" cy="810524"/>
            </a:xfrm>
          </p:grpSpPr>
          <p:sp>
            <p:nvSpPr>
              <p:cNvPr name="Freeform 6" id="6"/>
              <p:cNvSpPr/>
              <p:nvPr/>
            </p:nvSpPr>
            <p:spPr>
              <a:xfrm flipH="false" flipV="false" rot="0">
                <a:off x="0" y="0"/>
                <a:ext cx="825825" cy="810524"/>
              </a:xfrm>
              <a:custGeom>
                <a:avLst/>
                <a:gdLst/>
                <a:ahLst/>
                <a:cxnLst/>
                <a:rect r="r" b="b" t="t" l="l"/>
                <a:pathLst>
                  <a:path h="810524" w="825825">
                    <a:moveTo>
                      <a:pt x="0" y="0"/>
                    </a:moveTo>
                    <a:lnTo>
                      <a:pt x="825825" y="0"/>
                    </a:lnTo>
                    <a:lnTo>
                      <a:pt x="825825" y="810524"/>
                    </a:lnTo>
                    <a:lnTo>
                      <a:pt x="0" y="810524"/>
                    </a:lnTo>
                    <a:close/>
                  </a:path>
                </a:pathLst>
              </a:custGeom>
              <a:solidFill>
                <a:srgbClr val="94DDDE"/>
              </a:solidFill>
            </p:spPr>
          </p:sp>
          <p:sp>
            <p:nvSpPr>
              <p:cNvPr name="TextBox 7" id="7"/>
              <p:cNvSpPr txBox="true"/>
              <p:nvPr/>
            </p:nvSpPr>
            <p:spPr>
              <a:xfrm>
                <a:off x="0" y="-76200"/>
                <a:ext cx="825825" cy="886724"/>
              </a:xfrm>
              <a:prstGeom prst="rect">
                <a:avLst/>
              </a:prstGeom>
            </p:spPr>
            <p:txBody>
              <a:bodyPr anchor="ctr" rtlCol="false" tIns="0" lIns="0" bIns="0" rIns="0"/>
              <a:lstStyle/>
              <a:p>
                <a:pPr algn="ctr" marL="0" indent="0" lvl="0">
                  <a:lnSpc>
                    <a:spcPts val="6160"/>
                  </a:lnSpc>
                  <a:spcBef>
                    <a:spcPct val="0"/>
                  </a:spcBef>
                </a:pPr>
                <a:r>
                  <a:rPr lang="en-US" sz="4400" spc="752">
                    <a:solidFill>
                      <a:srgbClr val="2B4B82"/>
                    </a:solidFill>
                    <a:latin typeface="Clear Sans Bold"/>
                  </a:rPr>
                  <a:t>2</a:t>
                </a:r>
              </a:p>
            </p:txBody>
          </p:sp>
        </p:grpSp>
        <p:sp>
          <p:nvSpPr>
            <p:cNvPr name="TextBox 8" id="8"/>
            <p:cNvSpPr txBox="true"/>
            <p:nvPr/>
          </p:nvSpPr>
          <p:spPr>
            <a:xfrm rot="0">
              <a:off x="1353278" y="1336818"/>
              <a:ext cx="3202226" cy="616279"/>
            </a:xfrm>
            <a:prstGeom prst="rect">
              <a:avLst/>
            </a:prstGeom>
          </p:spPr>
          <p:txBody>
            <a:bodyPr anchor="t" rtlCol="false" tIns="0" lIns="0" bIns="0" rIns="0">
              <a:spAutoFit/>
            </a:bodyPr>
            <a:lstStyle/>
            <a:p>
              <a:pPr algn="ctr" marL="0" indent="0" lvl="0">
                <a:lnSpc>
                  <a:spcPts val="3919"/>
                </a:lnSpc>
              </a:pPr>
              <a:r>
                <a:rPr lang="en-US" sz="2799" spc="279" u="none">
                  <a:solidFill>
                    <a:srgbClr val="2B4B82"/>
                  </a:solidFill>
                  <a:latin typeface="Clear Sans Bold"/>
                </a:rPr>
                <a:t>STEP</a:t>
              </a:r>
            </a:p>
          </p:txBody>
        </p:sp>
        <p:sp>
          <p:nvSpPr>
            <p:cNvPr name="TextBox 9" id="9"/>
            <p:cNvSpPr txBox="true"/>
            <p:nvPr/>
          </p:nvSpPr>
          <p:spPr>
            <a:xfrm rot="0">
              <a:off x="1353278" y="3783875"/>
              <a:ext cx="3202226" cy="1455451"/>
            </a:xfrm>
            <a:prstGeom prst="rect">
              <a:avLst/>
            </a:prstGeom>
          </p:spPr>
          <p:txBody>
            <a:bodyPr anchor="t" rtlCol="false" tIns="0" lIns="0" bIns="0" rIns="0">
              <a:spAutoFit/>
            </a:bodyPr>
            <a:lstStyle/>
            <a:p>
              <a:pPr algn="ctr">
                <a:lnSpc>
                  <a:spcPts val="2940"/>
                </a:lnSpc>
              </a:pPr>
              <a:r>
                <a:rPr lang="en-US" sz="2100">
                  <a:solidFill>
                    <a:srgbClr val="2B4B82"/>
                  </a:solidFill>
                  <a:latin typeface="Clear Sans"/>
                </a:rPr>
                <a:t>Removing stop words,</a:t>
              </a:r>
            </a:p>
            <a:p>
              <a:pPr algn="ctr">
                <a:lnSpc>
                  <a:spcPts val="2940"/>
                </a:lnSpc>
              </a:pPr>
              <a:r>
                <a:rPr lang="en-US" sz="2100">
                  <a:solidFill>
                    <a:srgbClr val="2B4B82"/>
                  </a:solidFill>
                  <a:latin typeface="Clear Sans"/>
                </a:rPr>
                <a:t>Lemmatization</a:t>
              </a:r>
            </a:p>
          </p:txBody>
        </p:sp>
        <p:sp>
          <p:nvSpPr>
            <p:cNvPr name="TextBox 10" id="10"/>
            <p:cNvSpPr txBox="true"/>
            <p:nvPr/>
          </p:nvSpPr>
          <p:spPr>
            <a:xfrm rot="0">
              <a:off x="1353278" y="2319239"/>
              <a:ext cx="3202226" cy="1093161"/>
            </a:xfrm>
            <a:prstGeom prst="rect">
              <a:avLst/>
            </a:prstGeom>
          </p:spPr>
          <p:txBody>
            <a:bodyPr anchor="t" rtlCol="false" tIns="0" lIns="0" bIns="0" rIns="0">
              <a:spAutoFit/>
            </a:bodyPr>
            <a:lstStyle/>
            <a:p>
              <a:pPr algn="ctr">
                <a:lnSpc>
                  <a:spcPts val="3360"/>
                </a:lnSpc>
              </a:pPr>
              <a:r>
                <a:rPr lang="en-US" sz="2400">
                  <a:solidFill>
                    <a:srgbClr val="2B4B82"/>
                  </a:solidFill>
                  <a:latin typeface="Clear Sans Medium"/>
                </a:rPr>
                <a:t>Document Processing</a:t>
              </a:r>
            </a:p>
          </p:txBody>
        </p:sp>
      </p:grpSp>
      <p:grpSp>
        <p:nvGrpSpPr>
          <p:cNvPr name="Group 11" id="11"/>
          <p:cNvGrpSpPr/>
          <p:nvPr/>
        </p:nvGrpSpPr>
        <p:grpSpPr>
          <a:xfrm rot="0">
            <a:off x="981075" y="3371020"/>
            <a:ext cx="2785867" cy="4967417"/>
            <a:chOff x="0" y="0"/>
            <a:chExt cx="3714490" cy="6623223"/>
          </a:xfrm>
        </p:grpSpPr>
        <p:grpSp>
          <p:nvGrpSpPr>
            <p:cNvPr name="Group 12" id="12"/>
            <p:cNvGrpSpPr/>
            <p:nvPr/>
          </p:nvGrpSpPr>
          <p:grpSpPr>
            <a:xfrm rot="0">
              <a:off x="1256770" y="0"/>
              <a:ext cx="1200950" cy="1178699"/>
              <a:chOff x="0" y="0"/>
              <a:chExt cx="825825" cy="810524"/>
            </a:xfrm>
          </p:grpSpPr>
          <p:sp>
            <p:nvSpPr>
              <p:cNvPr name="Freeform 13" id="13"/>
              <p:cNvSpPr/>
              <p:nvPr/>
            </p:nvSpPr>
            <p:spPr>
              <a:xfrm flipH="false" flipV="false" rot="0">
                <a:off x="0" y="0"/>
                <a:ext cx="825825" cy="810524"/>
              </a:xfrm>
              <a:custGeom>
                <a:avLst/>
                <a:gdLst/>
                <a:ahLst/>
                <a:cxnLst/>
                <a:rect r="r" b="b" t="t" l="l"/>
                <a:pathLst>
                  <a:path h="810524" w="825825">
                    <a:moveTo>
                      <a:pt x="0" y="0"/>
                    </a:moveTo>
                    <a:lnTo>
                      <a:pt x="825825" y="0"/>
                    </a:lnTo>
                    <a:lnTo>
                      <a:pt x="825825" y="810524"/>
                    </a:lnTo>
                    <a:lnTo>
                      <a:pt x="0" y="810524"/>
                    </a:lnTo>
                    <a:close/>
                  </a:path>
                </a:pathLst>
              </a:custGeom>
              <a:solidFill>
                <a:srgbClr val="94DDDE"/>
              </a:solidFill>
            </p:spPr>
          </p:sp>
          <p:sp>
            <p:nvSpPr>
              <p:cNvPr name="TextBox 14" id="14"/>
              <p:cNvSpPr txBox="true"/>
              <p:nvPr/>
            </p:nvSpPr>
            <p:spPr>
              <a:xfrm>
                <a:off x="0" y="-76200"/>
                <a:ext cx="825825" cy="886724"/>
              </a:xfrm>
              <a:prstGeom prst="rect">
                <a:avLst/>
              </a:prstGeom>
            </p:spPr>
            <p:txBody>
              <a:bodyPr anchor="ctr" rtlCol="false" tIns="0" lIns="0" bIns="0" rIns="0"/>
              <a:lstStyle/>
              <a:p>
                <a:pPr algn="ctr" marL="0" indent="0" lvl="0">
                  <a:lnSpc>
                    <a:spcPts val="6160"/>
                  </a:lnSpc>
                  <a:spcBef>
                    <a:spcPct val="0"/>
                  </a:spcBef>
                </a:pPr>
                <a:r>
                  <a:rPr lang="en-US" sz="4400" spc="752" u="none">
                    <a:solidFill>
                      <a:srgbClr val="2B4B82"/>
                    </a:solidFill>
                    <a:latin typeface="Clear Sans Bold"/>
                  </a:rPr>
                  <a:t>1</a:t>
                </a:r>
              </a:p>
            </p:txBody>
          </p:sp>
        </p:grpSp>
        <p:sp>
          <p:nvSpPr>
            <p:cNvPr name="TextBox 15" id="15"/>
            <p:cNvSpPr txBox="true"/>
            <p:nvPr/>
          </p:nvSpPr>
          <p:spPr>
            <a:xfrm rot="0">
              <a:off x="0" y="1328994"/>
              <a:ext cx="3714490" cy="622723"/>
            </a:xfrm>
            <a:prstGeom prst="rect">
              <a:avLst/>
            </a:prstGeom>
          </p:spPr>
          <p:txBody>
            <a:bodyPr anchor="t" rtlCol="false" tIns="0" lIns="0" bIns="0" rIns="0">
              <a:spAutoFit/>
            </a:bodyPr>
            <a:lstStyle/>
            <a:p>
              <a:pPr algn="ctr">
                <a:lnSpc>
                  <a:spcPts val="3919"/>
                </a:lnSpc>
              </a:pPr>
              <a:r>
                <a:rPr lang="en-US" sz="2799" spc="279">
                  <a:solidFill>
                    <a:srgbClr val="2B4B82"/>
                  </a:solidFill>
                  <a:latin typeface="Clear Sans Bold"/>
                </a:rPr>
                <a:t>STEP</a:t>
              </a:r>
            </a:p>
          </p:txBody>
        </p:sp>
        <p:sp>
          <p:nvSpPr>
            <p:cNvPr name="TextBox 16" id="16"/>
            <p:cNvSpPr txBox="true"/>
            <p:nvPr/>
          </p:nvSpPr>
          <p:spPr>
            <a:xfrm rot="0">
              <a:off x="0" y="3195844"/>
              <a:ext cx="3714490" cy="3427379"/>
            </a:xfrm>
            <a:prstGeom prst="rect">
              <a:avLst/>
            </a:prstGeom>
          </p:spPr>
          <p:txBody>
            <a:bodyPr anchor="t" rtlCol="false" tIns="0" lIns="0" bIns="0" rIns="0">
              <a:spAutoFit/>
            </a:bodyPr>
            <a:lstStyle/>
            <a:p>
              <a:pPr algn="ctr">
                <a:lnSpc>
                  <a:spcPts val="2940"/>
                </a:lnSpc>
              </a:pPr>
              <a:r>
                <a:rPr lang="en-US" sz="2100">
                  <a:solidFill>
                    <a:srgbClr val="2B4B82"/>
                  </a:solidFill>
                  <a:latin typeface="Clear Sans"/>
                </a:rPr>
                <a:t>splits the text and</a:t>
              </a:r>
            </a:p>
            <a:p>
              <a:pPr algn="ctr">
                <a:lnSpc>
                  <a:spcPts val="2940"/>
                </a:lnSpc>
              </a:pPr>
              <a:r>
                <a:rPr lang="en-US" sz="2100">
                  <a:solidFill>
                    <a:srgbClr val="2B4B82"/>
                  </a:solidFill>
                  <a:latin typeface="Clear Sans"/>
                </a:rPr>
                <a:t> maps each word to a row number next tokenization</a:t>
              </a:r>
            </a:p>
            <a:p>
              <a:pPr algn="ctr">
                <a:lnSpc>
                  <a:spcPts val="2940"/>
                </a:lnSpc>
              </a:pPr>
              <a:r>
                <a:rPr lang="en-US" sz="2100">
                  <a:solidFill>
                    <a:srgbClr val="2B4B82"/>
                  </a:solidFill>
                  <a:latin typeface="Clear Sans"/>
                </a:rPr>
                <a:t>sorting alphabetically and lastly skip list index is created.</a:t>
              </a:r>
            </a:p>
          </p:txBody>
        </p:sp>
        <p:sp>
          <p:nvSpPr>
            <p:cNvPr name="TextBox 17" id="17"/>
            <p:cNvSpPr txBox="true"/>
            <p:nvPr/>
          </p:nvSpPr>
          <p:spPr>
            <a:xfrm rot="0">
              <a:off x="0" y="2336814"/>
              <a:ext cx="3714490" cy="529753"/>
            </a:xfrm>
            <a:prstGeom prst="rect">
              <a:avLst/>
            </a:prstGeom>
          </p:spPr>
          <p:txBody>
            <a:bodyPr anchor="t" rtlCol="false" tIns="0" lIns="0" bIns="0" rIns="0">
              <a:spAutoFit/>
            </a:bodyPr>
            <a:lstStyle/>
            <a:p>
              <a:pPr algn="ctr">
                <a:lnSpc>
                  <a:spcPts val="3360"/>
                </a:lnSpc>
              </a:pPr>
              <a:r>
                <a:rPr lang="en-US" sz="2400">
                  <a:solidFill>
                    <a:srgbClr val="2B4B82"/>
                  </a:solidFill>
                  <a:latin typeface="Clear Sans Medium"/>
                </a:rPr>
                <a:t>Inverted Index</a:t>
              </a:r>
            </a:p>
          </p:txBody>
        </p:sp>
      </p:grpSp>
      <p:grpSp>
        <p:nvGrpSpPr>
          <p:cNvPr name="Group 18" id="18"/>
          <p:cNvGrpSpPr/>
          <p:nvPr/>
        </p:nvGrpSpPr>
        <p:grpSpPr>
          <a:xfrm rot="0">
            <a:off x="5490514" y="3371020"/>
            <a:ext cx="3442185" cy="3923626"/>
            <a:chOff x="0" y="0"/>
            <a:chExt cx="4589580" cy="5231501"/>
          </a:xfrm>
        </p:grpSpPr>
        <p:sp>
          <p:nvSpPr>
            <p:cNvPr name="AutoShape 19" id="19"/>
            <p:cNvSpPr/>
            <p:nvPr/>
          </p:nvSpPr>
          <p:spPr>
            <a:xfrm>
              <a:off x="0" y="589349"/>
              <a:ext cx="2949975" cy="0"/>
            </a:xfrm>
            <a:prstGeom prst="line">
              <a:avLst/>
            </a:prstGeom>
            <a:ln cap="flat" w="38100">
              <a:solidFill>
                <a:srgbClr val="31356E"/>
              </a:solidFill>
              <a:prstDash val="solid"/>
              <a:headEnd type="none" len="sm" w="sm"/>
              <a:tailEnd type="none" len="sm" w="sm"/>
            </a:ln>
          </p:spPr>
        </p:sp>
        <p:sp>
          <p:nvSpPr>
            <p:cNvPr name="TextBox 20" id="20"/>
            <p:cNvSpPr txBox="true"/>
            <p:nvPr/>
          </p:nvSpPr>
          <p:spPr>
            <a:xfrm rot="0">
              <a:off x="1310369" y="1336818"/>
              <a:ext cx="3279211" cy="616279"/>
            </a:xfrm>
            <a:prstGeom prst="rect">
              <a:avLst/>
            </a:prstGeom>
          </p:spPr>
          <p:txBody>
            <a:bodyPr anchor="t" rtlCol="false" tIns="0" lIns="0" bIns="0" rIns="0">
              <a:spAutoFit/>
            </a:bodyPr>
            <a:lstStyle/>
            <a:p>
              <a:pPr algn="ctr" marL="0" indent="0" lvl="0">
                <a:lnSpc>
                  <a:spcPts val="3919"/>
                </a:lnSpc>
              </a:pPr>
              <a:r>
                <a:rPr lang="en-US" sz="2799" spc="279" u="none">
                  <a:solidFill>
                    <a:srgbClr val="2B4B82"/>
                  </a:solidFill>
                  <a:latin typeface="Clear Sans Bold"/>
                </a:rPr>
                <a:t>STEP</a:t>
              </a:r>
            </a:p>
          </p:txBody>
        </p:sp>
        <p:sp>
          <p:nvSpPr>
            <p:cNvPr name="TextBox 21" id="21"/>
            <p:cNvSpPr txBox="true"/>
            <p:nvPr/>
          </p:nvSpPr>
          <p:spPr>
            <a:xfrm rot="0">
              <a:off x="1310369" y="3776050"/>
              <a:ext cx="3279211" cy="1455451"/>
            </a:xfrm>
            <a:prstGeom prst="rect">
              <a:avLst/>
            </a:prstGeom>
          </p:spPr>
          <p:txBody>
            <a:bodyPr anchor="t" rtlCol="false" tIns="0" lIns="0" bIns="0" rIns="0">
              <a:spAutoFit/>
            </a:bodyPr>
            <a:lstStyle/>
            <a:p>
              <a:pPr algn="ctr">
                <a:lnSpc>
                  <a:spcPts val="2940"/>
                </a:lnSpc>
              </a:pPr>
              <a:r>
                <a:rPr lang="en-US" sz="2100">
                  <a:solidFill>
                    <a:srgbClr val="2B4B82"/>
                  </a:solidFill>
                  <a:latin typeface="Clear Sans"/>
                </a:rPr>
                <a:t>First code TF-IDF</a:t>
              </a:r>
            </a:p>
            <a:p>
              <a:pPr algn="ctr">
                <a:lnSpc>
                  <a:spcPts val="2940"/>
                </a:lnSpc>
              </a:pPr>
              <a:r>
                <a:rPr lang="en-US" sz="2100">
                  <a:solidFill>
                    <a:srgbClr val="2B4B82"/>
                  </a:solidFill>
                  <a:latin typeface="Clear Sans"/>
                </a:rPr>
                <a:t>Second code Bag of Words(BOW)</a:t>
              </a:r>
            </a:p>
          </p:txBody>
        </p:sp>
        <p:sp>
          <p:nvSpPr>
            <p:cNvPr name="TextBox 22" id="22"/>
            <p:cNvSpPr txBox="true"/>
            <p:nvPr/>
          </p:nvSpPr>
          <p:spPr>
            <a:xfrm rot="0">
              <a:off x="1310369" y="2319239"/>
              <a:ext cx="3279211" cy="1656569"/>
            </a:xfrm>
            <a:prstGeom prst="rect">
              <a:avLst/>
            </a:prstGeom>
          </p:spPr>
          <p:txBody>
            <a:bodyPr anchor="t" rtlCol="false" tIns="0" lIns="0" bIns="0" rIns="0">
              <a:spAutoFit/>
            </a:bodyPr>
            <a:lstStyle/>
            <a:p>
              <a:pPr algn="ctr">
                <a:lnSpc>
                  <a:spcPts val="3360"/>
                </a:lnSpc>
              </a:pPr>
              <a:r>
                <a:rPr lang="en-US" sz="2400">
                  <a:solidFill>
                    <a:srgbClr val="2B4B82"/>
                  </a:solidFill>
                  <a:latin typeface="Clear Sans Medium"/>
                </a:rPr>
                <a:t>Retrieval Evaluation </a:t>
              </a:r>
            </a:p>
            <a:p>
              <a:pPr algn="ctr">
                <a:lnSpc>
                  <a:spcPts val="3360"/>
                </a:lnSpc>
              </a:pPr>
            </a:p>
          </p:txBody>
        </p:sp>
        <p:grpSp>
          <p:nvGrpSpPr>
            <p:cNvPr name="Group 23" id="23"/>
            <p:cNvGrpSpPr/>
            <p:nvPr/>
          </p:nvGrpSpPr>
          <p:grpSpPr>
            <a:xfrm rot="0">
              <a:off x="2349500" y="0"/>
              <a:ext cx="1200950" cy="1178699"/>
              <a:chOff x="0" y="0"/>
              <a:chExt cx="825825" cy="810524"/>
            </a:xfrm>
          </p:grpSpPr>
          <p:sp>
            <p:nvSpPr>
              <p:cNvPr name="Freeform 24" id="24"/>
              <p:cNvSpPr/>
              <p:nvPr/>
            </p:nvSpPr>
            <p:spPr>
              <a:xfrm flipH="false" flipV="false" rot="0">
                <a:off x="0" y="0"/>
                <a:ext cx="825825" cy="810524"/>
              </a:xfrm>
              <a:custGeom>
                <a:avLst/>
                <a:gdLst/>
                <a:ahLst/>
                <a:cxnLst/>
                <a:rect r="r" b="b" t="t" l="l"/>
                <a:pathLst>
                  <a:path h="810524" w="825825">
                    <a:moveTo>
                      <a:pt x="0" y="0"/>
                    </a:moveTo>
                    <a:lnTo>
                      <a:pt x="825825" y="0"/>
                    </a:lnTo>
                    <a:lnTo>
                      <a:pt x="825825" y="810524"/>
                    </a:lnTo>
                    <a:lnTo>
                      <a:pt x="0" y="810524"/>
                    </a:lnTo>
                    <a:close/>
                  </a:path>
                </a:pathLst>
              </a:custGeom>
              <a:solidFill>
                <a:srgbClr val="94DDDE"/>
              </a:solidFill>
            </p:spPr>
          </p:sp>
          <p:sp>
            <p:nvSpPr>
              <p:cNvPr name="TextBox 25" id="25"/>
              <p:cNvSpPr txBox="true"/>
              <p:nvPr/>
            </p:nvSpPr>
            <p:spPr>
              <a:xfrm>
                <a:off x="0" y="-76200"/>
                <a:ext cx="825825" cy="886724"/>
              </a:xfrm>
              <a:prstGeom prst="rect">
                <a:avLst/>
              </a:prstGeom>
            </p:spPr>
            <p:txBody>
              <a:bodyPr anchor="ctr" rtlCol="false" tIns="0" lIns="0" bIns="0" rIns="0"/>
              <a:lstStyle/>
              <a:p>
                <a:pPr algn="ctr" marL="0" indent="0" lvl="0">
                  <a:lnSpc>
                    <a:spcPts val="6160"/>
                  </a:lnSpc>
                  <a:spcBef>
                    <a:spcPct val="0"/>
                  </a:spcBef>
                </a:pPr>
                <a:r>
                  <a:rPr lang="en-US" sz="4400" spc="752">
                    <a:solidFill>
                      <a:srgbClr val="2B4B82"/>
                    </a:solidFill>
                    <a:latin typeface="Clear Sans Bold"/>
                  </a:rPr>
                  <a:t>3</a:t>
                </a:r>
              </a:p>
            </p:txBody>
          </p:sp>
        </p:grpSp>
      </p:grpSp>
      <p:grpSp>
        <p:nvGrpSpPr>
          <p:cNvPr name="Group 26" id="26"/>
          <p:cNvGrpSpPr/>
          <p:nvPr/>
        </p:nvGrpSpPr>
        <p:grpSpPr>
          <a:xfrm rot="0">
            <a:off x="8153351" y="3371020"/>
            <a:ext cx="3691637" cy="3867733"/>
            <a:chOff x="0" y="0"/>
            <a:chExt cx="4922183" cy="5156977"/>
          </a:xfrm>
        </p:grpSpPr>
        <p:sp>
          <p:nvSpPr>
            <p:cNvPr name="AutoShape 27" id="27"/>
            <p:cNvSpPr/>
            <p:nvPr/>
          </p:nvSpPr>
          <p:spPr>
            <a:xfrm flipV="true">
              <a:off x="0" y="589349"/>
              <a:ext cx="2949975" cy="0"/>
            </a:xfrm>
            <a:prstGeom prst="line">
              <a:avLst/>
            </a:prstGeom>
            <a:ln cap="flat" w="38100">
              <a:solidFill>
                <a:srgbClr val="31356E"/>
              </a:solidFill>
              <a:prstDash val="solid"/>
              <a:headEnd type="none" len="sm" w="sm"/>
              <a:tailEnd type="none" len="sm" w="sm"/>
            </a:ln>
          </p:spPr>
        </p:sp>
        <p:sp>
          <p:nvSpPr>
            <p:cNvPr name="TextBox 28" id="28"/>
            <p:cNvSpPr txBox="true"/>
            <p:nvPr/>
          </p:nvSpPr>
          <p:spPr>
            <a:xfrm rot="0">
              <a:off x="1348004" y="1349518"/>
              <a:ext cx="3574179" cy="616279"/>
            </a:xfrm>
            <a:prstGeom prst="rect">
              <a:avLst/>
            </a:prstGeom>
          </p:spPr>
          <p:txBody>
            <a:bodyPr anchor="t" rtlCol="false" tIns="0" lIns="0" bIns="0" rIns="0">
              <a:spAutoFit/>
            </a:bodyPr>
            <a:lstStyle/>
            <a:p>
              <a:pPr algn="ctr" marL="0" indent="0" lvl="0">
                <a:lnSpc>
                  <a:spcPts val="3919"/>
                </a:lnSpc>
              </a:pPr>
              <a:r>
                <a:rPr lang="en-US" sz="2799" spc="279" u="none">
                  <a:solidFill>
                    <a:srgbClr val="2B4B82"/>
                  </a:solidFill>
                  <a:latin typeface="Clear Sans Bold"/>
                </a:rPr>
                <a:t>STEP</a:t>
              </a:r>
            </a:p>
          </p:txBody>
        </p:sp>
        <p:sp>
          <p:nvSpPr>
            <p:cNvPr name="TextBox 29" id="29"/>
            <p:cNvSpPr txBox="true"/>
            <p:nvPr/>
          </p:nvSpPr>
          <p:spPr>
            <a:xfrm rot="0">
              <a:off x="1348004" y="3208544"/>
              <a:ext cx="3574179" cy="1948433"/>
            </a:xfrm>
            <a:prstGeom prst="rect">
              <a:avLst/>
            </a:prstGeom>
          </p:spPr>
          <p:txBody>
            <a:bodyPr anchor="t" rtlCol="false" tIns="0" lIns="0" bIns="0" rIns="0">
              <a:spAutoFit/>
            </a:bodyPr>
            <a:lstStyle/>
            <a:p>
              <a:pPr algn="ctr">
                <a:lnSpc>
                  <a:spcPts val="2940"/>
                </a:lnSpc>
              </a:pPr>
              <a:r>
                <a:rPr lang="en-US" sz="2100">
                  <a:solidFill>
                    <a:srgbClr val="2B4B82"/>
                  </a:solidFill>
                  <a:latin typeface="Clear Sans"/>
                </a:rPr>
                <a:t>Training naive bayes classifier on documents for label predication</a:t>
              </a:r>
            </a:p>
          </p:txBody>
        </p:sp>
        <p:sp>
          <p:nvSpPr>
            <p:cNvPr name="TextBox 30" id="30"/>
            <p:cNvSpPr txBox="true"/>
            <p:nvPr/>
          </p:nvSpPr>
          <p:spPr>
            <a:xfrm rot="0">
              <a:off x="1348004" y="2331939"/>
              <a:ext cx="3574179" cy="529753"/>
            </a:xfrm>
            <a:prstGeom prst="rect">
              <a:avLst/>
            </a:prstGeom>
          </p:spPr>
          <p:txBody>
            <a:bodyPr anchor="t" rtlCol="false" tIns="0" lIns="0" bIns="0" rIns="0">
              <a:spAutoFit/>
            </a:bodyPr>
            <a:lstStyle/>
            <a:p>
              <a:pPr algn="ctr">
                <a:lnSpc>
                  <a:spcPts val="3360"/>
                </a:lnSpc>
              </a:pPr>
              <a:r>
                <a:rPr lang="en-US" sz="2400">
                  <a:solidFill>
                    <a:srgbClr val="2B4B82"/>
                  </a:solidFill>
                  <a:latin typeface="Clear Sans Medium"/>
                </a:rPr>
                <a:t>Classification </a:t>
              </a:r>
            </a:p>
          </p:txBody>
        </p:sp>
        <p:grpSp>
          <p:nvGrpSpPr>
            <p:cNvPr name="Group 31" id="31"/>
            <p:cNvGrpSpPr/>
            <p:nvPr/>
          </p:nvGrpSpPr>
          <p:grpSpPr>
            <a:xfrm rot="0">
              <a:off x="2349500" y="0"/>
              <a:ext cx="1200950" cy="1178699"/>
              <a:chOff x="0" y="0"/>
              <a:chExt cx="825825" cy="810524"/>
            </a:xfrm>
          </p:grpSpPr>
          <p:sp>
            <p:nvSpPr>
              <p:cNvPr name="Freeform 32" id="32"/>
              <p:cNvSpPr/>
              <p:nvPr/>
            </p:nvSpPr>
            <p:spPr>
              <a:xfrm flipH="false" flipV="false" rot="0">
                <a:off x="0" y="0"/>
                <a:ext cx="825825" cy="810524"/>
              </a:xfrm>
              <a:custGeom>
                <a:avLst/>
                <a:gdLst/>
                <a:ahLst/>
                <a:cxnLst/>
                <a:rect r="r" b="b" t="t" l="l"/>
                <a:pathLst>
                  <a:path h="810524" w="825825">
                    <a:moveTo>
                      <a:pt x="0" y="0"/>
                    </a:moveTo>
                    <a:lnTo>
                      <a:pt x="825825" y="0"/>
                    </a:lnTo>
                    <a:lnTo>
                      <a:pt x="825825" y="810524"/>
                    </a:lnTo>
                    <a:lnTo>
                      <a:pt x="0" y="810524"/>
                    </a:lnTo>
                    <a:close/>
                  </a:path>
                </a:pathLst>
              </a:custGeom>
              <a:solidFill>
                <a:srgbClr val="94DDDE"/>
              </a:solidFill>
            </p:spPr>
          </p:sp>
          <p:sp>
            <p:nvSpPr>
              <p:cNvPr name="TextBox 33" id="33"/>
              <p:cNvSpPr txBox="true"/>
              <p:nvPr/>
            </p:nvSpPr>
            <p:spPr>
              <a:xfrm>
                <a:off x="0" y="-76200"/>
                <a:ext cx="825825" cy="886724"/>
              </a:xfrm>
              <a:prstGeom prst="rect">
                <a:avLst/>
              </a:prstGeom>
            </p:spPr>
            <p:txBody>
              <a:bodyPr anchor="ctr" rtlCol="false" tIns="0" lIns="0" bIns="0" rIns="0"/>
              <a:lstStyle/>
              <a:p>
                <a:pPr algn="ctr" marL="0" indent="0" lvl="0">
                  <a:lnSpc>
                    <a:spcPts val="6160"/>
                  </a:lnSpc>
                  <a:spcBef>
                    <a:spcPct val="0"/>
                  </a:spcBef>
                </a:pPr>
                <a:r>
                  <a:rPr lang="en-US" sz="4400" spc="752">
                    <a:solidFill>
                      <a:srgbClr val="2B4B82"/>
                    </a:solidFill>
                    <a:latin typeface="Clear Sans Bold"/>
                  </a:rPr>
                  <a:t>4</a:t>
                </a:r>
              </a:p>
            </p:txBody>
          </p:sp>
        </p:grpSp>
      </p:grpSp>
      <p:grpSp>
        <p:nvGrpSpPr>
          <p:cNvPr name="Group 34" id="34"/>
          <p:cNvGrpSpPr/>
          <p:nvPr/>
        </p:nvGrpSpPr>
        <p:grpSpPr>
          <a:xfrm rot="0">
            <a:off x="3853514" y="3371020"/>
            <a:ext cx="16135350" cy="3929495"/>
            <a:chOff x="0" y="0"/>
            <a:chExt cx="21513800" cy="5239326"/>
          </a:xfrm>
        </p:grpSpPr>
        <p:sp>
          <p:nvSpPr>
            <p:cNvPr name="AutoShape 35" id="35"/>
            <p:cNvSpPr/>
            <p:nvPr/>
          </p:nvSpPr>
          <p:spPr>
            <a:xfrm>
              <a:off x="9480550" y="608399"/>
              <a:ext cx="2349500" cy="0"/>
            </a:xfrm>
            <a:prstGeom prst="line">
              <a:avLst/>
            </a:prstGeom>
            <a:ln cap="flat" w="38100">
              <a:solidFill>
                <a:srgbClr val="31356E"/>
              </a:solidFill>
              <a:prstDash val="solid"/>
              <a:headEnd type="none" len="sm" w="sm"/>
              <a:tailEnd type="none" len="sm" w="sm"/>
            </a:ln>
          </p:spPr>
        </p:sp>
        <p:sp>
          <p:nvSpPr>
            <p:cNvPr name="TextBox 36" id="36"/>
            <p:cNvSpPr txBox="true"/>
            <p:nvPr/>
          </p:nvSpPr>
          <p:spPr>
            <a:xfrm rot="0">
              <a:off x="0" y="4032191"/>
              <a:ext cx="21513800" cy="1207135"/>
            </a:xfrm>
            <a:prstGeom prst="rect">
              <a:avLst/>
            </a:prstGeom>
          </p:spPr>
          <p:txBody>
            <a:bodyPr anchor="t" rtlCol="false" tIns="0" lIns="0" bIns="0" rIns="0">
              <a:spAutoFit/>
            </a:bodyPr>
            <a:lstStyle/>
            <a:p>
              <a:pPr algn="ctr">
                <a:lnSpc>
                  <a:spcPts val="6719"/>
                </a:lnSpc>
              </a:pPr>
            </a:p>
          </p:txBody>
        </p:sp>
        <p:sp>
          <p:nvSpPr>
            <p:cNvPr name="TextBox 37" id="37"/>
            <p:cNvSpPr txBox="true"/>
            <p:nvPr/>
          </p:nvSpPr>
          <p:spPr>
            <a:xfrm rot="0">
              <a:off x="10756900" y="1328994"/>
              <a:ext cx="3767435" cy="616279"/>
            </a:xfrm>
            <a:prstGeom prst="rect">
              <a:avLst/>
            </a:prstGeom>
          </p:spPr>
          <p:txBody>
            <a:bodyPr anchor="t" rtlCol="false" tIns="0" lIns="0" bIns="0" rIns="0">
              <a:spAutoFit/>
            </a:bodyPr>
            <a:lstStyle/>
            <a:p>
              <a:pPr algn="ctr" marL="0" indent="0" lvl="0">
                <a:lnSpc>
                  <a:spcPts val="3919"/>
                </a:lnSpc>
              </a:pPr>
              <a:r>
                <a:rPr lang="en-US" sz="2799" spc="279" u="none">
                  <a:solidFill>
                    <a:srgbClr val="2B4B82"/>
                  </a:solidFill>
                  <a:latin typeface="Clear Sans Bold"/>
                </a:rPr>
                <a:t>STEP</a:t>
              </a:r>
            </a:p>
          </p:txBody>
        </p:sp>
        <p:sp>
          <p:nvSpPr>
            <p:cNvPr name="TextBox 38" id="38"/>
            <p:cNvSpPr txBox="true"/>
            <p:nvPr/>
          </p:nvSpPr>
          <p:spPr>
            <a:xfrm rot="0">
              <a:off x="10756900" y="3188019"/>
              <a:ext cx="3767435" cy="1948433"/>
            </a:xfrm>
            <a:prstGeom prst="rect">
              <a:avLst/>
            </a:prstGeom>
          </p:spPr>
          <p:txBody>
            <a:bodyPr anchor="t" rtlCol="false" tIns="0" lIns="0" bIns="0" rIns="0">
              <a:spAutoFit/>
            </a:bodyPr>
            <a:lstStyle/>
            <a:p>
              <a:pPr algn="ctr">
                <a:lnSpc>
                  <a:spcPts val="2940"/>
                </a:lnSpc>
              </a:pPr>
              <a:r>
                <a:rPr lang="en-US" sz="2100">
                  <a:solidFill>
                    <a:srgbClr val="2B4B82"/>
                  </a:solidFill>
                  <a:latin typeface="Clear Sans"/>
                </a:rPr>
                <a:t>Using metrics like Precision, Recall and F1 Score to measure Each code Efficiency  </a:t>
              </a:r>
            </a:p>
          </p:txBody>
        </p:sp>
        <p:sp>
          <p:nvSpPr>
            <p:cNvPr name="TextBox 39" id="39"/>
            <p:cNvSpPr txBox="true"/>
            <p:nvPr/>
          </p:nvSpPr>
          <p:spPr>
            <a:xfrm rot="0">
              <a:off x="10756900" y="2311414"/>
              <a:ext cx="3767435" cy="529753"/>
            </a:xfrm>
            <a:prstGeom prst="rect">
              <a:avLst/>
            </a:prstGeom>
          </p:spPr>
          <p:txBody>
            <a:bodyPr anchor="t" rtlCol="false" tIns="0" lIns="0" bIns="0" rIns="0">
              <a:spAutoFit/>
            </a:bodyPr>
            <a:lstStyle/>
            <a:p>
              <a:pPr algn="ctr">
                <a:lnSpc>
                  <a:spcPts val="3360"/>
                </a:lnSpc>
              </a:pPr>
              <a:r>
                <a:rPr lang="en-US" sz="2400">
                  <a:solidFill>
                    <a:srgbClr val="2B4B82"/>
                  </a:solidFill>
                  <a:latin typeface="Clear Sans Medium"/>
                </a:rPr>
                <a:t> Evaluation</a:t>
              </a:r>
            </a:p>
          </p:txBody>
        </p:sp>
        <p:grpSp>
          <p:nvGrpSpPr>
            <p:cNvPr name="Group 40" id="40"/>
            <p:cNvGrpSpPr/>
            <p:nvPr/>
          </p:nvGrpSpPr>
          <p:grpSpPr>
            <a:xfrm rot="0">
              <a:off x="11633067" y="0"/>
              <a:ext cx="1200950" cy="1178699"/>
              <a:chOff x="0" y="0"/>
              <a:chExt cx="825825" cy="810524"/>
            </a:xfrm>
          </p:grpSpPr>
          <p:sp>
            <p:nvSpPr>
              <p:cNvPr name="Freeform 41" id="41"/>
              <p:cNvSpPr/>
              <p:nvPr/>
            </p:nvSpPr>
            <p:spPr>
              <a:xfrm flipH="false" flipV="false" rot="0">
                <a:off x="0" y="0"/>
                <a:ext cx="825825" cy="810524"/>
              </a:xfrm>
              <a:custGeom>
                <a:avLst/>
                <a:gdLst/>
                <a:ahLst/>
                <a:cxnLst/>
                <a:rect r="r" b="b" t="t" l="l"/>
                <a:pathLst>
                  <a:path h="810524" w="825825">
                    <a:moveTo>
                      <a:pt x="0" y="0"/>
                    </a:moveTo>
                    <a:lnTo>
                      <a:pt x="825825" y="0"/>
                    </a:lnTo>
                    <a:lnTo>
                      <a:pt x="825825" y="810524"/>
                    </a:lnTo>
                    <a:lnTo>
                      <a:pt x="0" y="810524"/>
                    </a:lnTo>
                    <a:close/>
                  </a:path>
                </a:pathLst>
              </a:custGeom>
              <a:solidFill>
                <a:srgbClr val="94DDDE"/>
              </a:solidFill>
            </p:spPr>
          </p:sp>
          <p:sp>
            <p:nvSpPr>
              <p:cNvPr name="TextBox 42" id="42"/>
              <p:cNvSpPr txBox="true"/>
              <p:nvPr/>
            </p:nvSpPr>
            <p:spPr>
              <a:xfrm>
                <a:off x="0" y="-76200"/>
                <a:ext cx="825825" cy="886724"/>
              </a:xfrm>
              <a:prstGeom prst="rect">
                <a:avLst/>
              </a:prstGeom>
            </p:spPr>
            <p:txBody>
              <a:bodyPr anchor="ctr" rtlCol="false" tIns="0" lIns="0" bIns="0" rIns="0"/>
              <a:lstStyle/>
              <a:p>
                <a:pPr algn="ctr" marL="0" indent="0" lvl="0">
                  <a:lnSpc>
                    <a:spcPts val="6160"/>
                  </a:lnSpc>
                  <a:spcBef>
                    <a:spcPct val="0"/>
                  </a:spcBef>
                </a:pPr>
                <a:r>
                  <a:rPr lang="en-US" sz="4400" spc="752">
                    <a:solidFill>
                      <a:srgbClr val="2B4B82"/>
                    </a:solidFill>
                    <a:latin typeface="Clear Sans Bold"/>
                  </a:rPr>
                  <a:t>5</a:t>
                </a:r>
              </a:p>
            </p:txBody>
          </p:sp>
        </p:grpSp>
        <p:sp>
          <p:nvSpPr>
            <p:cNvPr name="AutoShape 43" id="43"/>
            <p:cNvSpPr/>
            <p:nvPr/>
          </p:nvSpPr>
          <p:spPr>
            <a:xfrm>
              <a:off x="12507315" y="589349"/>
              <a:ext cx="2846514" cy="0"/>
            </a:xfrm>
            <a:prstGeom prst="line">
              <a:avLst/>
            </a:prstGeom>
            <a:ln cap="flat" w="38100">
              <a:solidFill>
                <a:srgbClr val="31356E"/>
              </a:solidFill>
              <a:prstDash val="solid"/>
              <a:headEnd type="none" len="sm" w="sm"/>
              <a:tailEnd type="none" len="sm" w="sm"/>
            </a:ln>
          </p:spPr>
        </p:sp>
        <p:grpSp>
          <p:nvGrpSpPr>
            <p:cNvPr name="Group 44" id="44"/>
            <p:cNvGrpSpPr/>
            <p:nvPr/>
          </p:nvGrpSpPr>
          <p:grpSpPr>
            <a:xfrm rot="0">
              <a:off x="15353829" y="0"/>
              <a:ext cx="1200950" cy="1178699"/>
              <a:chOff x="0" y="0"/>
              <a:chExt cx="825825" cy="810524"/>
            </a:xfrm>
          </p:grpSpPr>
          <p:sp>
            <p:nvSpPr>
              <p:cNvPr name="Freeform 45" id="45"/>
              <p:cNvSpPr/>
              <p:nvPr/>
            </p:nvSpPr>
            <p:spPr>
              <a:xfrm flipH="false" flipV="false" rot="0">
                <a:off x="0" y="0"/>
                <a:ext cx="825825" cy="810524"/>
              </a:xfrm>
              <a:custGeom>
                <a:avLst/>
                <a:gdLst/>
                <a:ahLst/>
                <a:cxnLst/>
                <a:rect r="r" b="b" t="t" l="l"/>
                <a:pathLst>
                  <a:path h="810524" w="825825">
                    <a:moveTo>
                      <a:pt x="0" y="0"/>
                    </a:moveTo>
                    <a:lnTo>
                      <a:pt x="825825" y="0"/>
                    </a:lnTo>
                    <a:lnTo>
                      <a:pt x="825825" y="810524"/>
                    </a:lnTo>
                    <a:lnTo>
                      <a:pt x="0" y="810524"/>
                    </a:lnTo>
                    <a:close/>
                  </a:path>
                </a:pathLst>
              </a:custGeom>
              <a:solidFill>
                <a:srgbClr val="94DDDE"/>
              </a:solidFill>
            </p:spPr>
          </p:sp>
          <p:sp>
            <p:nvSpPr>
              <p:cNvPr name="TextBox 46" id="46"/>
              <p:cNvSpPr txBox="true"/>
              <p:nvPr/>
            </p:nvSpPr>
            <p:spPr>
              <a:xfrm>
                <a:off x="0" y="-76200"/>
                <a:ext cx="825825" cy="886724"/>
              </a:xfrm>
              <a:prstGeom prst="rect">
                <a:avLst/>
              </a:prstGeom>
            </p:spPr>
            <p:txBody>
              <a:bodyPr anchor="ctr" rtlCol="false" tIns="0" lIns="0" bIns="0" rIns="0"/>
              <a:lstStyle/>
              <a:p>
                <a:pPr algn="ctr" marL="0" indent="0" lvl="0">
                  <a:lnSpc>
                    <a:spcPts val="6160"/>
                  </a:lnSpc>
                  <a:spcBef>
                    <a:spcPct val="0"/>
                  </a:spcBef>
                </a:pPr>
                <a:r>
                  <a:rPr lang="en-US" sz="4400" spc="752">
                    <a:solidFill>
                      <a:srgbClr val="2B4B82"/>
                    </a:solidFill>
                    <a:latin typeface="Clear Sans Bold"/>
                  </a:rPr>
                  <a:t>6</a:t>
                </a:r>
              </a:p>
            </p:txBody>
          </p:sp>
        </p:grpSp>
        <p:sp>
          <p:nvSpPr>
            <p:cNvPr name="TextBox 47" id="47"/>
            <p:cNvSpPr txBox="true"/>
            <p:nvPr/>
          </p:nvSpPr>
          <p:spPr>
            <a:xfrm rot="0">
              <a:off x="14070587" y="1328994"/>
              <a:ext cx="3767435" cy="616279"/>
            </a:xfrm>
            <a:prstGeom prst="rect">
              <a:avLst/>
            </a:prstGeom>
          </p:spPr>
          <p:txBody>
            <a:bodyPr anchor="t" rtlCol="false" tIns="0" lIns="0" bIns="0" rIns="0">
              <a:spAutoFit/>
            </a:bodyPr>
            <a:lstStyle/>
            <a:p>
              <a:pPr algn="ctr" marL="0" indent="0" lvl="0">
                <a:lnSpc>
                  <a:spcPts val="3919"/>
                </a:lnSpc>
              </a:pPr>
              <a:r>
                <a:rPr lang="en-US" sz="2799" spc="279" u="none">
                  <a:solidFill>
                    <a:srgbClr val="2B4B82"/>
                  </a:solidFill>
                  <a:latin typeface="Clear Sans Bold"/>
                </a:rPr>
                <a:t>STEP</a:t>
              </a:r>
            </a:p>
          </p:txBody>
        </p:sp>
        <p:sp>
          <p:nvSpPr>
            <p:cNvPr name="TextBox 48" id="48"/>
            <p:cNvSpPr txBox="true"/>
            <p:nvPr/>
          </p:nvSpPr>
          <p:spPr>
            <a:xfrm rot="0">
              <a:off x="14524335" y="3188019"/>
              <a:ext cx="2777037" cy="1948433"/>
            </a:xfrm>
            <a:prstGeom prst="rect">
              <a:avLst/>
            </a:prstGeom>
          </p:spPr>
          <p:txBody>
            <a:bodyPr anchor="t" rtlCol="false" tIns="0" lIns="0" bIns="0" rIns="0">
              <a:spAutoFit/>
            </a:bodyPr>
            <a:lstStyle/>
            <a:p>
              <a:pPr algn="ctr">
                <a:lnSpc>
                  <a:spcPts val="2940"/>
                </a:lnSpc>
              </a:pPr>
              <a:r>
                <a:rPr lang="en-US" sz="2100">
                  <a:solidFill>
                    <a:srgbClr val="2B4B82"/>
                  </a:solidFill>
                  <a:latin typeface="Clear Sans"/>
                </a:rPr>
                <a:t>User interface to take in query and return search results</a:t>
              </a:r>
            </a:p>
          </p:txBody>
        </p:sp>
        <p:sp>
          <p:nvSpPr>
            <p:cNvPr name="TextBox 49" id="49"/>
            <p:cNvSpPr txBox="true"/>
            <p:nvPr/>
          </p:nvSpPr>
          <p:spPr>
            <a:xfrm rot="0">
              <a:off x="14070587" y="2311414"/>
              <a:ext cx="3767435" cy="529753"/>
            </a:xfrm>
            <a:prstGeom prst="rect">
              <a:avLst/>
            </a:prstGeom>
          </p:spPr>
          <p:txBody>
            <a:bodyPr anchor="t" rtlCol="false" tIns="0" lIns="0" bIns="0" rIns="0">
              <a:spAutoFit/>
            </a:bodyPr>
            <a:lstStyle/>
            <a:p>
              <a:pPr algn="ctr">
                <a:lnSpc>
                  <a:spcPts val="3360"/>
                </a:lnSpc>
              </a:pPr>
              <a:r>
                <a:rPr lang="en-US" sz="2400">
                  <a:solidFill>
                    <a:srgbClr val="2B4B82"/>
                  </a:solidFill>
                  <a:latin typeface="Clear Sans Medium"/>
                </a:rPr>
                <a:t> GUI</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grpSp>
        <p:nvGrpSpPr>
          <p:cNvPr name="Group 2" id="2"/>
          <p:cNvGrpSpPr/>
          <p:nvPr/>
        </p:nvGrpSpPr>
        <p:grpSpPr>
          <a:xfrm rot="0">
            <a:off x="168792" y="166798"/>
            <a:ext cx="17923835" cy="9871220"/>
            <a:chOff x="0" y="0"/>
            <a:chExt cx="4720681" cy="2599827"/>
          </a:xfrm>
        </p:grpSpPr>
        <p:sp>
          <p:nvSpPr>
            <p:cNvPr name="Freeform 3" id="3"/>
            <p:cNvSpPr/>
            <p:nvPr/>
          </p:nvSpPr>
          <p:spPr>
            <a:xfrm flipH="false" flipV="false" rot="0">
              <a:off x="0" y="0"/>
              <a:ext cx="4720681" cy="2599827"/>
            </a:xfrm>
            <a:custGeom>
              <a:avLst/>
              <a:gdLst/>
              <a:ahLst/>
              <a:cxnLst/>
              <a:rect r="r" b="b" t="t" l="l"/>
              <a:pathLst>
                <a:path h="2599827" w="4720681">
                  <a:moveTo>
                    <a:pt x="8639" y="0"/>
                  </a:moveTo>
                  <a:lnTo>
                    <a:pt x="4712042" y="0"/>
                  </a:lnTo>
                  <a:cubicBezTo>
                    <a:pt x="4716813" y="0"/>
                    <a:pt x="4720681" y="3868"/>
                    <a:pt x="4720681" y="8639"/>
                  </a:cubicBezTo>
                  <a:lnTo>
                    <a:pt x="4720681" y="2591189"/>
                  </a:lnTo>
                  <a:cubicBezTo>
                    <a:pt x="4720681" y="2595960"/>
                    <a:pt x="4716813" y="2599827"/>
                    <a:pt x="4712042" y="2599827"/>
                  </a:cubicBezTo>
                  <a:lnTo>
                    <a:pt x="8639" y="2599827"/>
                  </a:lnTo>
                  <a:cubicBezTo>
                    <a:pt x="3868" y="2599827"/>
                    <a:pt x="0" y="2595960"/>
                    <a:pt x="0" y="2591189"/>
                  </a:cubicBezTo>
                  <a:lnTo>
                    <a:pt x="0" y="8639"/>
                  </a:lnTo>
                  <a:cubicBezTo>
                    <a:pt x="0" y="3868"/>
                    <a:pt x="3868" y="0"/>
                    <a:pt x="8639" y="0"/>
                  </a:cubicBezTo>
                  <a:close/>
                </a:path>
              </a:pathLst>
            </a:custGeom>
            <a:solidFill>
              <a:srgbClr val="FEFEFE"/>
            </a:solidFill>
            <a:ln w="28575" cap="sq">
              <a:solidFill>
                <a:srgbClr val="2B4B82"/>
              </a:solidFill>
              <a:prstDash val="solid"/>
              <a:miter/>
            </a:ln>
          </p:spPr>
        </p:sp>
        <p:sp>
          <p:nvSpPr>
            <p:cNvPr name="TextBox 4" id="4"/>
            <p:cNvSpPr txBox="true"/>
            <p:nvPr/>
          </p:nvSpPr>
          <p:spPr>
            <a:xfrm>
              <a:off x="0" y="-47625"/>
              <a:ext cx="4720681" cy="2647452"/>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2686111" y="1028700"/>
            <a:ext cx="9894772" cy="8533857"/>
          </a:xfrm>
          <a:custGeom>
            <a:avLst/>
            <a:gdLst/>
            <a:ahLst/>
            <a:cxnLst/>
            <a:rect r="r" b="b" t="t" l="l"/>
            <a:pathLst>
              <a:path h="8533857" w="9894772">
                <a:moveTo>
                  <a:pt x="0" y="0"/>
                </a:moveTo>
                <a:lnTo>
                  <a:pt x="9894771" y="0"/>
                </a:lnTo>
                <a:lnTo>
                  <a:pt x="9894771" y="8533857"/>
                </a:lnTo>
                <a:lnTo>
                  <a:pt x="0" y="8533857"/>
                </a:lnTo>
                <a:lnTo>
                  <a:pt x="0" y="0"/>
                </a:lnTo>
                <a:close/>
              </a:path>
            </a:pathLst>
          </a:custGeom>
          <a:blipFill>
            <a:blip r:embed="rId2"/>
            <a:stretch>
              <a:fillRect l="0" t="0" r="0" b="0"/>
            </a:stretch>
          </a:blipFill>
        </p:spPr>
      </p:sp>
      <p:sp>
        <p:nvSpPr>
          <p:cNvPr name="TextBox 6" id="6"/>
          <p:cNvSpPr txBox="true"/>
          <p:nvPr/>
        </p:nvSpPr>
        <p:spPr>
          <a:xfrm rot="0">
            <a:off x="629979" y="619125"/>
            <a:ext cx="7588308" cy="819150"/>
          </a:xfrm>
          <a:prstGeom prst="rect">
            <a:avLst/>
          </a:prstGeom>
        </p:spPr>
        <p:txBody>
          <a:bodyPr anchor="t" rtlCol="false" tIns="0" lIns="0" bIns="0" rIns="0">
            <a:spAutoFit/>
          </a:bodyPr>
          <a:lstStyle/>
          <a:p>
            <a:pPr algn="l">
              <a:lnSpc>
                <a:spcPts val="6480"/>
              </a:lnSpc>
            </a:pPr>
            <a:r>
              <a:rPr lang="en-US" sz="5400">
                <a:solidFill>
                  <a:srgbClr val="2B4B82"/>
                </a:solidFill>
                <a:latin typeface="Clear Sans Bold"/>
              </a:rPr>
              <a:t>Code</a:t>
            </a:r>
          </a:p>
        </p:txBody>
      </p:sp>
      <p:sp>
        <p:nvSpPr>
          <p:cNvPr name="TextBox 7" id="7"/>
          <p:cNvSpPr txBox="true"/>
          <p:nvPr/>
        </p:nvSpPr>
        <p:spPr>
          <a:xfrm rot="0">
            <a:off x="12758422" y="4592314"/>
            <a:ext cx="5138831" cy="1780540"/>
          </a:xfrm>
          <a:prstGeom prst="rect">
            <a:avLst/>
          </a:prstGeom>
        </p:spPr>
        <p:txBody>
          <a:bodyPr anchor="t" rtlCol="false" tIns="0" lIns="0" bIns="0" rIns="0">
            <a:spAutoFit/>
          </a:bodyPr>
          <a:lstStyle/>
          <a:p>
            <a:pPr algn="ctr">
              <a:lnSpc>
                <a:spcPts val="4759"/>
              </a:lnSpc>
            </a:pPr>
            <a:r>
              <a:rPr lang="en-US" sz="3399">
                <a:solidFill>
                  <a:srgbClr val="31356E"/>
                </a:solidFill>
                <a:latin typeface="Canva Sans"/>
              </a:rPr>
              <a:t>Initialization for the class  and the evaluation function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grpSp>
        <p:nvGrpSpPr>
          <p:cNvPr name="Group 2" id="2"/>
          <p:cNvGrpSpPr/>
          <p:nvPr/>
        </p:nvGrpSpPr>
        <p:grpSpPr>
          <a:xfrm rot="0">
            <a:off x="142210" y="140217"/>
            <a:ext cx="17976998" cy="9977545"/>
            <a:chOff x="0" y="0"/>
            <a:chExt cx="4734683" cy="2627831"/>
          </a:xfrm>
        </p:grpSpPr>
        <p:sp>
          <p:nvSpPr>
            <p:cNvPr name="Freeform 3" id="3"/>
            <p:cNvSpPr/>
            <p:nvPr/>
          </p:nvSpPr>
          <p:spPr>
            <a:xfrm flipH="false" flipV="false" rot="0">
              <a:off x="0" y="0"/>
              <a:ext cx="4734683" cy="2627831"/>
            </a:xfrm>
            <a:custGeom>
              <a:avLst/>
              <a:gdLst/>
              <a:ahLst/>
              <a:cxnLst/>
              <a:rect r="r" b="b" t="t" l="l"/>
              <a:pathLst>
                <a:path h="2627831" w="4734683">
                  <a:moveTo>
                    <a:pt x="8613" y="0"/>
                  </a:moveTo>
                  <a:lnTo>
                    <a:pt x="4726070" y="0"/>
                  </a:lnTo>
                  <a:cubicBezTo>
                    <a:pt x="4728354" y="0"/>
                    <a:pt x="4730545" y="907"/>
                    <a:pt x="4732160" y="2523"/>
                  </a:cubicBezTo>
                  <a:cubicBezTo>
                    <a:pt x="4733775" y="4138"/>
                    <a:pt x="4734683" y="6329"/>
                    <a:pt x="4734683" y="8613"/>
                  </a:cubicBezTo>
                  <a:lnTo>
                    <a:pt x="4734683" y="2619218"/>
                  </a:lnTo>
                  <a:cubicBezTo>
                    <a:pt x="4734683" y="2623975"/>
                    <a:pt x="4730826" y="2627831"/>
                    <a:pt x="4726070" y="2627831"/>
                  </a:cubicBezTo>
                  <a:lnTo>
                    <a:pt x="8613" y="2627831"/>
                  </a:lnTo>
                  <a:cubicBezTo>
                    <a:pt x="6329" y="2627831"/>
                    <a:pt x="4138" y="2626923"/>
                    <a:pt x="2523" y="2625308"/>
                  </a:cubicBezTo>
                  <a:cubicBezTo>
                    <a:pt x="907" y="2623693"/>
                    <a:pt x="0" y="2621502"/>
                    <a:pt x="0" y="2619218"/>
                  </a:cubicBezTo>
                  <a:lnTo>
                    <a:pt x="0" y="8613"/>
                  </a:lnTo>
                  <a:cubicBezTo>
                    <a:pt x="0" y="3856"/>
                    <a:pt x="3856" y="0"/>
                    <a:pt x="8613" y="0"/>
                  </a:cubicBezTo>
                  <a:close/>
                </a:path>
              </a:pathLst>
            </a:custGeom>
            <a:solidFill>
              <a:srgbClr val="FEFEFE"/>
            </a:solidFill>
            <a:ln w="28575" cap="sq">
              <a:solidFill>
                <a:srgbClr val="2B4B82"/>
              </a:solidFill>
              <a:prstDash val="solid"/>
              <a:miter/>
            </a:ln>
          </p:spPr>
        </p:sp>
        <p:sp>
          <p:nvSpPr>
            <p:cNvPr name="TextBox 4" id="4"/>
            <p:cNvSpPr txBox="true"/>
            <p:nvPr/>
          </p:nvSpPr>
          <p:spPr>
            <a:xfrm>
              <a:off x="0" y="-47625"/>
              <a:ext cx="4734683" cy="2675456"/>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355681" y="1028700"/>
            <a:ext cx="8788319" cy="7876081"/>
          </a:xfrm>
          <a:custGeom>
            <a:avLst/>
            <a:gdLst/>
            <a:ahLst/>
            <a:cxnLst/>
            <a:rect r="r" b="b" t="t" l="l"/>
            <a:pathLst>
              <a:path h="7876081" w="8788319">
                <a:moveTo>
                  <a:pt x="0" y="0"/>
                </a:moveTo>
                <a:lnTo>
                  <a:pt x="8788319" y="0"/>
                </a:lnTo>
                <a:lnTo>
                  <a:pt x="8788319" y="7876081"/>
                </a:lnTo>
                <a:lnTo>
                  <a:pt x="0" y="7876081"/>
                </a:lnTo>
                <a:lnTo>
                  <a:pt x="0" y="0"/>
                </a:lnTo>
                <a:close/>
              </a:path>
            </a:pathLst>
          </a:custGeom>
          <a:blipFill>
            <a:blip r:embed="rId2"/>
            <a:stretch>
              <a:fillRect l="0" t="0" r="-33812" b="0"/>
            </a:stretch>
          </a:blipFill>
        </p:spPr>
      </p:sp>
      <p:sp>
        <p:nvSpPr>
          <p:cNvPr name="Freeform 6" id="6"/>
          <p:cNvSpPr/>
          <p:nvPr/>
        </p:nvSpPr>
        <p:spPr>
          <a:xfrm flipH="false" flipV="false" rot="0">
            <a:off x="9371950" y="2860840"/>
            <a:ext cx="8459150" cy="6655312"/>
          </a:xfrm>
          <a:custGeom>
            <a:avLst/>
            <a:gdLst/>
            <a:ahLst/>
            <a:cxnLst/>
            <a:rect r="r" b="b" t="t" l="l"/>
            <a:pathLst>
              <a:path h="6655312" w="8459150">
                <a:moveTo>
                  <a:pt x="0" y="0"/>
                </a:moveTo>
                <a:lnTo>
                  <a:pt x="8459150" y="0"/>
                </a:lnTo>
                <a:lnTo>
                  <a:pt x="8459150" y="6655313"/>
                </a:lnTo>
                <a:lnTo>
                  <a:pt x="0" y="6655313"/>
                </a:lnTo>
                <a:lnTo>
                  <a:pt x="0" y="0"/>
                </a:lnTo>
                <a:close/>
              </a:path>
            </a:pathLst>
          </a:custGeom>
          <a:blipFill>
            <a:blip r:embed="rId3"/>
            <a:stretch>
              <a:fillRect l="-200" t="0" r="-200" b="0"/>
            </a:stretch>
          </a:blipFill>
        </p:spPr>
      </p:sp>
      <p:sp>
        <p:nvSpPr>
          <p:cNvPr name="TextBox 7" id="7"/>
          <p:cNvSpPr txBox="true"/>
          <p:nvPr/>
        </p:nvSpPr>
        <p:spPr>
          <a:xfrm rot="0">
            <a:off x="2761332" y="278897"/>
            <a:ext cx="12738754"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rPr>
              <a:t>Proccessing documents and inverted index application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grpSp>
        <p:nvGrpSpPr>
          <p:cNvPr name="Group 2" id="2"/>
          <p:cNvGrpSpPr/>
          <p:nvPr/>
        </p:nvGrpSpPr>
        <p:grpSpPr>
          <a:xfrm rot="0">
            <a:off x="142210" y="140217"/>
            <a:ext cx="17976998" cy="9977545"/>
            <a:chOff x="0" y="0"/>
            <a:chExt cx="4734683" cy="2627831"/>
          </a:xfrm>
        </p:grpSpPr>
        <p:sp>
          <p:nvSpPr>
            <p:cNvPr name="Freeform 3" id="3"/>
            <p:cNvSpPr/>
            <p:nvPr/>
          </p:nvSpPr>
          <p:spPr>
            <a:xfrm flipH="false" flipV="false" rot="0">
              <a:off x="0" y="0"/>
              <a:ext cx="4734683" cy="2627831"/>
            </a:xfrm>
            <a:custGeom>
              <a:avLst/>
              <a:gdLst/>
              <a:ahLst/>
              <a:cxnLst/>
              <a:rect r="r" b="b" t="t" l="l"/>
              <a:pathLst>
                <a:path h="2627831" w="4734683">
                  <a:moveTo>
                    <a:pt x="8613" y="0"/>
                  </a:moveTo>
                  <a:lnTo>
                    <a:pt x="4726070" y="0"/>
                  </a:lnTo>
                  <a:cubicBezTo>
                    <a:pt x="4728354" y="0"/>
                    <a:pt x="4730545" y="907"/>
                    <a:pt x="4732160" y="2523"/>
                  </a:cubicBezTo>
                  <a:cubicBezTo>
                    <a:pt x="4733775" y="4138"/>
                    <a:pt x="4734683" y="6329"/>
                    <a:pt x="4734683" y="8613"/>
                  </a:cubicBezTo>
                  <a:lnTo>
                    <a:pt x="4734683" y="2619218"/>
                  </a:lnTo>
                  <a:cubicBezTo>
                    <a:pt x="4734683" y="2623975"/>
                    <a:pt x="4730826" y="2627831"/>
                    <a:pt x="4726070" y="2627831"/>
                  </a:cubicBezTo>
                  <a:lnTo>
                    <a:pt x="8613" y="2627831"/>
                  </a:lnTo>
                  <a:cubicBezTo>
                    <a:pt x="6329" y="2627831"/>
                    <a:pt x="4138" y="2626923"/>
                    <a:pt x="2523" y="2625308"/>
                  </a:cubicBezTo>
                  <a:cubicBezTo>
                    <a:pt x="907" y="2623693"/>
                    <a:pt x="0" y="2621502"/>
                    <a:pt x="0" y="2619218"/>
                  </a:cubicBezTo>
                  <a:lnTo>
                    <a:pt x="0" y="8613"/>
                  </a:lnTo>
                  <a:cubicBezTo>
                    <a:pt x="0" y="3856"/>
                    <a:pt x="3856" y="0"/>
                    <a:pt x="8613" y="0"/>
                  </a:cubicBezTo>
                  <a:close/>
                </a:path>
              </a:pathLst>
            </a:custGeom>
            <a:solidFill>
              <a:srgbClr val="FEFEFE"/>
            </a:solidFill>
            <a:ln w="28575" cap="sq">
              <a:solidFill>
                <a:srgbClr val="2B4B82"/>
              </a:solidFill>
              <a:prstDash val="solid"/>
              <a:miter/>
            </a:ln>
          </p:spPr>
        </p:sp>
        <p:sp>
          <p:nvSpPr>
            <p:cNvPr name="TextBox 4" id="4"/>
            <p:cNvSpPr txBox="true"/>
            <p:nvPr/>
          </p:nvSpPr>
          <p:spPr>
            <a:xfrm>
              <a:off x="0" y="-47625"/>
              <a:ext cx="4734683" cy="2675456"/>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292570" y="1395045"/>
            <a:ext cx="8838139" cy="6061514"/>
          </a:xfrm>
          <a:custGeom>
            <a:avLst/>
            <a:gdLst/>
            <a:ahLst/>
            <a:cxnLst/>
            <a:rect r="r" b="b" t="t" l="l"/>
            <a:pathLst>
              <a:path h="6061514" w="8838139">
                <a:moveTo>
                  <a:pt x="0" y="0"/>
                </a:moveTo>
                <a:lnTo>
                  <a:pt x="8838139" y="0"/>
                </a:lnTo>
                <a:lnTo>
                  <a:pt x="8838139" y="6061514"/>
                </a:lnTo>
                <a:lnTo>
                  <a:pt x="0" y="6061514"/>
                </a:lnTo>
                <a:lnTo>
                  <a:pt x="0" y="0"/>
                </a:lnTo>
                <a:close/>
              </a:path>
            </a:pathLst>
          </a:custGeom>
          <a:blipFill>
            <a:blip r:embed="rId2"/>
            <a:stretch>
              <a:fillRect l="0" t="0" r="0" b="0"/>
            </a:stretch>
          </a:blipFill>
        </p:spPr>
      </p:sp>
      <p:sp>
        <p:nvSpPr>
          <p:cNvPr name="Freeform 6" id="6"/>
          <p:cNvSpPr/>
          <p:nvPr/>
        </p:nvSpPr>
        <p:spPr>
          <a:xfrm flipH="false" flipV="false" rot="0">
            <a:off x="9384218" y="2867726"/>
            <a:ext cx="8488520" cy="6756910"/>
          </a:xfrm>
          <a:custGeom>
            <a:avLst/>
            <a:gdLst/>
            <a:ahLst/>
            <a:cxnLst/>
            <a:rect r="r" b="b" t="t" l="l"/>
            <a:pathLst>
              <a:path h="6756910" w="8488520">
                <a:moveTo>
                  <a:pt x="0" y="0"/>
                </a:moveTo>
                <a:lnTo>
                  <a:pt x="8488520" y="0"/>
                </a:lnTo>
                <a:lnTo>
                  <a:pt x="8488520" y="6756910"/>
                </a:lnTo>
                <a:lnTo>
                  <a:pt x="0" y="6756910"/>
                </a:lnTo>
                <a:lnTo>
                  <a:pt x="0" y="0"/>
                </a:lnTo>
                <a:close/>
              </a:path>
            </a:pathLst>
          </a:custGeom>
          <a:blipFill>
            <a:blip r:embed="rId3"/>
            <a:stretch>
              <a:fillRect l="0" t="0" r="0" b="0"/>
            </a:stretch>
          </a:blipFill>
        </p:spPr>
      </p:sp>
      <p:sp>
        <p:nvSpPr>
          <p:cNvPr name="TextBox 7" id="7"/>
          <p:cNvSpPr txBox="true"/>
          <p:nvPr/>
        </p:nvSpPr>
        <p:spPr>
          <a:xfrm rot="0">
            <a:off x="2761332" y="278897"/>
            <a:ext cx="12738754"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rPr>
              <a:t>Building TF-IDF Vs BOW and search algorithm with the GUI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Freeform 2" id="2"/>
          <p:cNvSpPr/>
          <p:nvPr/>
        </p:nvSpPr>
        <p:spPr>
          <a:xfrm flipH="false" flipV="false" rot="0">
            <a:off x="655666" y="-963412"/>
            <a:ext cx="4597438" cy="2842053"/>
          </a:xfrm>
          <a:custGeom>
            <a:avLst/>
            <a:gdLst/>
            <a:ahLst/>
            <a:cxnLst/>
            <a:rect r="r" b="b" t="t" l="l"/>
            <a:pathLst>
              <a:path h="2842053" w="4597438">
                <a:moveTo>
                  <a:pt x="0" y="0"/>
                </a:moveTo>
                <a:lnTo>
                  <a:pt x="4597439" y="0"/>
                </a:lnTo>
                <a:lnTo>
                  <a:pt x="4597439"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207503" y="390596"/>
            <a:ext cx="2076668" cy="1276207"/>
          </a:xfrm>
          <a:custGeom>
            <a:avLst/>
            <a:gdLst/>
            <a:ahLst/>
            <a:cxnLst/>
            <a:rect r="r" b="b" t="t" l="l"/>
            <a:pathLst>
              <a:path h="1276207" w="2076668">
                <a:moveTo>
                  <a:pt x="2076669" y="0"/>
                </a:moveTo>
                <a:lnTo>
                  <a:pt x="0" y="0"/>
                </a:lnTo>
                <a:lnTo>
                  <a:pt x="0" y="1276208"/>
                </a:lnTo>
                <a:lnTo>
                  <a:pt x="2076669" y="1276208"/>
                </a:lnTo>
                <a:lnTo>
                  <a:pt x="207666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794348" y="-2447996"/>
            <a:ext cx="3837986" cy="4114800"/>
          </a:xfrm>
          <a:custGeom>
            <a:avLst/>
            <a:gdLst/>
            <a:ahLst/>
            <a:cxnLst/>
            <a:rect r="r" b="b" t="t" l="l"/>
            <a:pathLst>
              <a:path h="4114800" w="3837986">
                <a:moveTo>
                  <a:pt x="0" y="0"/>
                </a:moveTo>
                <a:lnTo>
                  <a:pt x="3837986" y="0"/>
                </a:lnTo>
                <a:lnTo>
                  <a:pt x="383798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649912" y="-3759204"/>
            <a:ext cx="5357753" cy="5591583"/>
          </a:xfrm>
          <a:custGeom>
            <a:avLst/>
            <a:gdLst/>
            <a:ahLst/>
            <a:cxnLst/>
            <a:rect r="r" b="b" t="t" l="l"/>
            <a:pathLst>
              <a:path h="5591583" w="5357753">
                <a:moveTo>
                  <a:pt x="0" y="0"/>
                </a:moveTo>
                <a:lnTo>
                  <a:pt x="5357753" y="0"/>
                </a:lnTo>
                <a:lnTo>
                  <a:pt x="5357753"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6" id="6"/>
          <p:cNvGraphicFramePr>
            <a:graphicFrameLocks noGrp="true"/>
          </p:cNvGraphicFramePr>
          <p:nvPr/>
        </p:nvGraphicFramePr>
        <p:xfrm>
          <a:off x="1028700" y="2709563"/>
          <a:ext cx="16230600" cy="6752177"/>
        </p:xfrm>
        <a:graphic>
          <a:graphicData uri="http://schemas.openxmlformats.org/drawingml/2006/table">
            <a:tbl>
              <a:tblPr/>
              <a:tblGrid>
                <a:gridCol w="8115300"/>
                <a:gridCol w="8115300"/>
              </a:tblGrid>
              <a:tr h="2427444">
                <a:tc>
                  <a:txBody>
                    <a:bodyPr anchor="t" rtlCol="false"/>
                    <a:lstStyle/>
                    <a:p>
                      <a:pPr algn="l">
                        <a:lnSpc>
                          <a:spcPts val="6600"/>
                        </a:lnSpc>
                        <a:defRPr/>
                      </a:pPr>
                      <a:r>
                        <a:rPr lang="en-US" sz="5500">
                          <a:solidFill>
                            <a:srgbClr val="2B4B82"/>
                          </a:solidFill>
                          <a:latin typeface="Clear Sans Bold"/>
                        </a:rPr>
                        <a:t>TF-IDF System</a:t>
                      </a:r>
                      <a:endParaRPr lang="en-US" sz="1100"/>
                    </a:p>
                  </a:txBody>
                  <a:tcPr marL="190500" marR="190500" marT="190500" marB="190500" anchor="t">
                    <a:lnL cmpd="sng" algn="ctr" cap="flat" w="57150">
                      <a:solidFill>
                        <a:srgbClr val="FEFEFE"/>
                      </a:solidFill>
                      <a:prstDash val="solid"/>
                      <a:round/>
                      <a:headEnd type="none" w="med" len="med"/>
                      <a:tailEnd type="none" w="med" len="med"/>
                    </a:lnL>
                    <a:lnR cmpd="sng" algn="ctr" cap="flat" w="57150">
                      <a:solidFill>
                        <a:srgbClr val="FEFEFE"/>
                      </a:solidFill>
                      <a:prstDash val="solid"/>
                      <a:round/>
                      <a:headEnd type="none" w="med" len="med"/>
                      <a:tailEnd type="none" w="med" len="med"/>
                    </a:lnR>
                    <a:lnT cmpd="sng" algn="ctr" cap="flat" w="57150">
                      <a:solidFill>
                        <a:srgbClr val="FEFEFE"/>
                      </a:solidFill>
                      <a:prstDash val="solid"/>
                      <a:round/>
                      <a:headEnd type="none" w="med" len="med"/>
                      <a:tailEnd type="none" w="med" len="med"/>
                    </a:lnT>
                    <a:lnB cmpd="sng" algn="ctr" cap="flat" w="57150">
                      <a:solidFill>
                        <a:srgbClr val="FEFEFE"/>
                      </a:solidFill>
                      <a:prstDash val="solid"/>
                      <a:round/>
                      <a:headEnd type="none" w="med" len="med"/>
                      <a:tailEnd type="none" w="med" len="med"/>
                    </a:lnB>
                  </a:tcPr>
                </a:tc>
                <a:tc>
                  <a:txBody>
                    <a:bodyPr anchor="t" rtlCol="false"/>
                    <a:lstStyle/>
                    <a:p>
                      <a:pPr algn="l">
                        <a:lnSpc>
                          <a:spcPts val="6720"/>
                        </a:lnSpc>
                        <a:defRPr/>
                      </a:pPr>
                      <a:r>
                        <a:rPr lang="en-US" sz="5600">
                          <a:solidFill>
                            <a:srgbClr val="2B4B82"/>
                          </a:solidFill>
                          <a:latin typeface="Clear Sans Bold"/>
                        </a:rPr>
                        <a:t>Bag of Words</a:t>
                      </a:r>
                      <a:endParaRPr lang="en-US" sz="1100"/>
                    </a:p>
                  </a:txBody>
                  <a:tcPr marL="190500" marR="190500" marT="190500" marB="190500" anchor="t">
                    <a:lnL cmpd="sng" algn="ctr" cap="flat" w="57150">
                      <a:solidFill>
                        <a:srgbClr val="FEFEFE"/>
                      </a:solidFill>
                      <a:prstDash val="solid"/>
                      <a:round/>
                      <a:headEnd type="none" w="med" len="med"/>
                      <a:tailEnd type="none" w="med" len="med"/>
                    </a:lnL>
                    <a:lnR cmpd="sng" algn="ctr" cap="flat" w="57150">
                      <a:solidFill>
                        <a:srgbClr val="FEFEFE"/>
                      </a:solidFill>
                      <a:prstDash val="solid"/>
                      <a:round/>
                      <a:headEnd type="none" w="med" len="med"/>
                      <a:tailEnd type="none" w="med" len="med"/>
                    </a:lnR>
                    <a:lnT cmpd="sng" algn="ctr" cap="flat" w="57150">
                      <a:solidFill>
                        <a:srgbClr val="FEFEFE"/>
                      </a:solidFill>
                      <a:prstDash val="solid"/>
                      <a:round/>
                      <a:headEnd type="none" w="med" len="med"/>
                      <a:tailEnd type="none" w="med" len="med"/>
                    </a:lnT>
                    <a:lnB cmpd="sng" algn="ctr" cap="flat" w="57150">
                      <a:solidFill>
                        <a:srgbClr val="FEFEFE"/>
                      </a:solidFill>
                      <a:prstDash val="solid"/>
                      <a:round/>
                      <a:headEnd type="none" w="med" len="med"/>
                      <a:tailEnd type="none" w="med" len="med"/>
                    </a:lnB>
                  </a:tcPr>
                </a:tc>
              </a:tr>
              <a:tr h="4324733">
                <a:tc>
                  <a:txBody>
                    <a:bodyPr anchor="t" rtlCol="false"/>
                    <a:lstStyle/>
                    <a:p>
                      <a:pPr algn="l" marL="518160" indent="-259080" lvl="1">
                        <a:lnSpc>
                          <a:spcPts val="3359"/>
                        </a:lnSpc>
                        <a:buFont typeface="Arial"/>
                        <a:buChar char="•"/>
                        <a:defRPr/>
                      </a:pPr>
                      <a:r>
                        <a:rPr lang="en-US" sz="2400">
                          <a:solidFill>
                            <a:srgbClr val="2B4B82"/>
                          </a:solidFill>
                          <a:latin typeface="Clear Sans"/>
                        </a:rPr>
                        <a:t> Simple and easy to use implementation wise and method of working. </a:t>
                      </a:r>
                      <a:endParaRPr lang="en-US" sz="1100"/>
                    </a:p>
                    <a:p>
                      <a:pPr algn="l">
                        <a:lnSpc>
                          <a:spcPts val="3359"/>
                        </a:lnSpc>
                      </a:pPr>
                    </a:p>
                    <a:p>
                      <a:pPr algn="l" marL="518160" indent="-259080" lvl="1">
                        <a:lnSpc>
                          <a:spcPts val="3359"/>
                        </a:lnSpc>
                        <a:buFont typeface="Arial"/>
                        <a:buChar char="•"/>
                      </a:pPr>
                      <a:r>
                        <a:rPr lang="en-US" sz="2400">
                          <a:solidFill>
                            <a:srgbClr val="2B4B82"/>
                          </a:solidFill>
                          <a:latin typeface="Clear Sans"/>
                        </a:rPr>
                        <a:t>Prioritizing the documents through weighing and therefore helps the system in conducting the search in efficient ways</a:t>
                      </a:r>
                    </a:p>
                    <a:p>
                      <a:pPr algn="l">
                        <a:lnSpc>
                          <a:spcPts val="3359"/>
                        </a:lnSpc>
                      </a:pPr>
                    </a:p>
                    <a:p>
                      <a:pPr algn="l" marL="518160" indent="-259080" lvl="1">
                        <a:lnSpc>
                          <a:spcPts val="3359"/>
                        </a:lnSpc>
                        <a:buFont typeface="Arial"/>
                        <a:buChar char="•"/>
                      </a:pPr>
                      <a:r>
                        <a:rPr lang="en-US" sz="2400">
                          <a:solidFill>
                            <a:srgbClr val="2B4B82"/>
                          </a:solidFill>
                          <a:latin typeface="Clear Sans"/>
                        </a:rPr>
                        <a:t>returns back high value and relevant data preventing any other data from overshadowing</a:t>
                      </a:r>
                    </a:p>
                  </a:txBody>
                  <a:tcPr marL="190500" marR="190500" marT="190500" marB="190500" anchor="t">
                    <a:lnL cmpd="sng" algn="ctr" cap="flat" w="57150">
                      <a:solidFill>
                        <a:srgbClr val="FEFEFE"/>
                      </a:solidFill>
                      <a:prstDash val="solid"/>
                      <a:round/>
                      <a:headEnd type="none" w="med" len="med"/>
                      <a:tailEnd type="none" w="med" len="med"/>
                    </a:lnL>
                    <a:lnR cmpd="sng" algn="ctr" cap="flat" w="57150">
                      <a:solidFill>
                        <a:srgbClr val="FEFEFE"/>
                      </a:solidFill>
                      <a:prstDash val="solid"/>
                      <a:round/>
                      <a:headEnd type="none" w="med" len="med"/>
                      <a:tailEnd type="none" w="med" len="med"/>
                    </a:lnR>
                    <a:lnT cmpd="sng" algn="ctr" cap="flat" w="57150">
                      <a:solidFill>
                        <a:srgbClr val="FEFEFE"/>
                      </a:solidFill>
                      <a:prstDash val="solid"/>
                      <a:round/>
                      <a:headEnd type="none" w="med" len="med"/>
                      <a:tailEnd type="none" w="med" len="med"/>
                    </a:lnT>
                    <a:lnB cmpd="sng" algn="ctr" cap="flat" w="57150">
                      <a:solidFill>
                        <a:srgbClr val="FEFEFE"/>
                      </a:solidFill>
                      <a:prstDash val="solid"/>
                      <a:round/>
                      <a:headEnd type="none" w="med" len="med"/>
                      <a:tailEnd type="none" w="med" len="med"/>
                    </a:lnB>
                  </a:tcPr>
                </a:tc>
                <a:tc>
                  <a:txBody>
                    <a:bodyPr anchor="t" rtlCol="false"/>
                    <a:lstStyle/>
                    <a:p>
                      <a:pPr algn="l" marL="518160" indent="-259080" lvl="1">
                        <a:lnSpc>
                          <a:spcPts val="3359"/>
                        </a:lnSpc>
                        <a:buFont typeface="Arial"/>
                        <a:buChar char="•"/>
                        <a:defRPr/>
                      </a:pPr>
                      <a:r>
                        <a:rPr lang="en-US" sz="2400">
                          <a:solidFill>
                            <a:srgbClr val="2B4B82"/>
                          </a:solidFill>
                          <a:latin typeface="Clear Sans"/>
                        </a:rPr>
                        <a:t>Simple and efficient representation of text for machine learning algorithms. </a:t>
                      </a:r>
                      <a:endParaRPr lang="en-US" sz="1100"/>
                    </a:p>
                    <a:p>
                      <a:pPr algn="l">
                        <a:lnSpc>
                          <a:spcPts val="3359"/>
                        </a:lnSpc>
                      </a:pPr>
                    </a:p>
                    <a:p>
                      <a:pPr algn="l" marL="518160" indent="-259080" lvl="1">
                        <a:lnSpc>
                          <a:spcPts val="3359"/>
                        </a:lnSpc>
                        <a:buFont typeface="Arial"/>
                        <a:buChar char="•"/>
                      </a:pPr>
                      <a:r>
                        <a:rPr lang="en-US" sz="2400">
                          <a:solidFill>
                            <a:srgbClr val="2B4B82"/>
                          </a:solidFill>
                          <a:latin typeface="Clear Sans"/>
                        </a:rPr>
                        <a:t>interpretable for data and is not a complex model </a:t>
                      </a:r>
                    </a:p>
                    <a:p>
                      <a:pPr algn="l">
                        <a:lnSpc>
                          <a:spcPts val="3359"/>
                        </a:lnSpc>
                      </a:pPr>
                    </a:p>
                    <a:p>
                      <a:pPr algn="l" marL="518160" indent="-259080" lvl="1">
                        <a:lnSpc>
                          <a:spcPts val="3359"/>
                        </a:lnSpc>
                        <a:buFont typeface="Arial"/>
                        <a:buChar char="•"/>
                      </a:pPr>
                      <a:r>
                        <a:rPr lang="en-US" sz="2400">
                          <a:solidFill>
                            <a:srgbClr val="2B4B82"/>
                          </a:solidFill>
                          <a:latin typeface="Clear Sans"/>
                        </a:rPr>
                        <a:t>Ignores word order and context, leading to loss of semantic meaning.</a:t>
                      </a:r>
                    </a:p>
                    <a:p>
                      <a:pPr algn="l">
                        <a:lnSpc>
                          <a:spcPts val="3359"/>
                        </a:lnSpc>
                      </a:pPr>
                    </a:p>
                    <a:p>
                      <a:pPr algn="l">
                        <a:lnSpc>
                          <a:spcPts val="3359"/>
                        </a:lnSpc>
                      </a:pPr>
                    </a:p>
                  </a:txBody>
                  <a:tcPr marL="190500" marR="190500" marT="190500" marB="190500" anchor="t">
                    <a:lnL cmpd="sng" algn="ctr" cap="flat" w="57150">
                      <a:solidFill>
                        <a:srgbClr val="FEFEFE"/>
                      </a:solidFill>
                      <a:prstDash val="solid"/>
                      <a:round/>
                      <a:headEnd type="none" w="med" len="med"/>
                      <a:tailEnd type="none" w="med" len="med"/>
                    </a:lnL>
                    <a:lnR cmpd="sng" algn="ctr" cap="flat" w="57150">
                      <a:solidFill>
                        <a:srgbClr val="FEFEFE"/>
                      </a:solidFill>
                      <a:prstDash val="solid"/>
                      <a:round/>
                      <a:headEnd type="none" w="med" len="med"/>
                      <a:tailEnd type="none" w="med" len="med"/>
                    </a:lnR>
                    <a:lnT cmpd="sng" algn="ctr" cap="flat" w="57150">
                      <a:solidFill>
                        <a:srgbClr val="FEFEFE"/>
                      </a:solidFill>
                      <a:prstDash val="solid"/>
                      <a:round/>
                      <a:headEnd type="none" w="med" len="med"/>
                      <a:tailEnd type="none" w="med" len="med"/>
                    </a:lnT>
                    <a:lnB cmpd="sng" algn="ctr" cap="flat" w="57150">
                      <a:solidFill>
                        <a:srgbClr val="FEFEFE"/>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Freeform 2" id="2"/>
          <p:cNvSpPr/>
          <p:nvPr/>
        </p:nvSpPr>
        <p:spPr>
          <a:xfrm flipH="false" flipV="false" rot="0">
            <a:off x="655666" y="-963412"/>
            <a:ext cx="4597438" cy="2842053"/>
          </a:xfrm>
          <a:custGeom>
            <a:avLst/>
            <a:gdLst/>
            <a:ahLst/>
            <a:cxnLst/>
            <a:rect r="r" b="b" t="t" l="l"/>
            <a:pathLst>
              <a:path h="2842053" w="4597438">
                <a:moveTo>
                  <a:pt x="0" y="0"/>
                </a:moveTo>
                <a:lnTo>
                  <a:pt x="4597439" y="0"/>
                </a:lnTo>
                <a:lnTo>
                  <a:pt x="4597439"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207503" y="390596"/>
            <a:ext cx="2076668" cy="1276207"/>
          </a:xfrm>
          <a:custGeom>
            <a:avLst/>
            <a:gdLst/>
            <a:ahLst/>
            <a:cxnLst/>
            <a:rect r="r" b="b" t="t" l="l"/>
            <a:pathLst>
              <a:path h="1276207" w="2076668">
                <a:moveTo>
                  <a:pt x="2076669" y="0"/>
                </a:moveTo>
                <a:lnTo>
                  <a:pt x="0" y="0"/>
                </a:lnTo>
                <a:lnTo>
                  <a:pt x="0" y="1276208"/>
                </a:lnTo>
                <a:lnTo>
                  <a:pt x="2076669" y="1276208"/>
                </a:lnTo>
                <a:lnTo>
                  <a:pt x="207666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794348" y="-2447996"/>
            <a:ext cx="3837986" cy="4114800"/>
          </a:xfrm>
          <a:custGeom>
            <a:avLst/>
            <a:gdLst/>
            <a:ahLst/>
            <a:cxnLst/>
            <a:rect r="r" b="b" t="t" l="l"/>
            <a:pathLst>
              <a:path h="4114800" w="3837986">
                <a:moveTo>
                  <a:pt x="0" y="0"/>
                </a:moveTo>
                <a:lnTo>
                  <a:pt x="3837986" y="0"/>
                </a:lnTo>
                <a:lnTo>
                  <a:pt x="383798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649912" y="-3759204"/>
            <a:ext cx="5357753" cy="5591583"/>
          </a:xfrm>
          <a:custGeom>
            <a:avLst/>
            <a:gdLst/>
            <a:ahLst/>
            <a:cxnLst/>
            <a:rect r="r" b="b" t="t" l="l"/>
            <a:pathLst>
              <a:path h="5591583" w="5357753">
                <a:moveTo>
                  <a:pt x="0" y="0"/>
                </a:moveTo>
                <a:lnTo>
                  <a:pt x="5357753" y="0"/>
                </a:lnTo>
                <a:lnTo>
                  <a:pt x="5357753"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2987148" y="-963412"/>
            <a:ext cx="22631872" cy="12972185"/>
            <a:chOff x="0" y="0"/>
            <a:chExt cx="5960658" cy="3416543"/>
          </a:xfrm>
        </p:grpSpPr>
        <p:sp>
          <p:nvSpPr>
            <p:cNvPr name="Freeform 7" id="7"/>
            <p:cNvSpPr/>
            <p:nvPr/>
          </p:nvSpPr>
          <p:spPr>
            <a:xfrm flipH="false" flipV="false" rot="0">
              <a:off x="0" y="0"/>
              <a:ext cx="5960657" cy="3416543"/>
            </a:xfrm>
            <a:custGeom>
              <a:avLst/>
              <a:gdLst/>
              <a:ahLst/>
              <a:cxnLst/>
              <a:rect r="r" b="b" t="t" l="l"/>
              <a:pathLst>
                <a:path h="3416543" w="5960657">
                  <a:moveTo>
                    <a:pt x="0" y="0"/>
                  </a:moveTo>
                  <a:lnTo>
                    <a:pt x="5960657" y="0"/>
                  </a:lnTo>
                  <a:lnTo>
                    <a:pt x="5960657" y="3416543"/>
                  </a:lnTo>
                  <a:lnTo>
                    <a:pt x="0" y="3416543"/>
                  </a:lnTo>
                  <a:close/>
                </a:path>
              </a:pathLst>
            </a:custGeom>
            <a:solidFill>
              <a:srgbClr val="94DDDE"/>
            </a:solidFill>
          </p:spPr>
        </p:sp>
        <p:sp>
          <p:nvSpPr>
            <p:cNvPr name="TextBox 8" id="8"/>
            <p:cNvSpPr txBox="true"/>
            <p:nvPr/>
          </p:nvSpPr>
          <p:spPr>
            <a:xfrm>
              <a:off x="0" y="-47625"/>
              <a:ext cx="5960658" cy="3464168"/>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427864" y="933450"/>
            <a:ext cx="7650480" cy="796370"/>
          </a:xfrm>
          <a:prstGeom prst="rect">
            <a:avLst/>
          </a:prstGeom>
        </p:spPr>
        <p:txBody>
          <a:bodyPr anchor="t" rtlCol="false" tIns="0" lIns="0" bIns="0" rIns="0">
            <a:spAutoFit/>
          </a:bodyPr>
          <a:lstStyle/>
          <a:p>
            <a:pPr algn="ctr">
              <a:lnSpc>
                <a:spcPts val="6505"/>
              </a:lnSpc>
              <a:spcBef>
                <a:spcPct val="0"/>
              </a:spcBef>
            </a:pPr>
            <a:r>
              <a:rPr lang="en-US" sz="4646">
                <a:solidFill>
                  <a:srgbClr val="2B4B82"/>
                </a:solidFill>
                <a:latin typeface="Clear Sans"/>
              </a:rPr>
              <a:t>Dashboard of the Evaluation:</a:t>
            </a:r>
          </a:p>
        </p:txBody>
      </p:sp>
      <p:sp>
        <p:nvSpPr>
          <p:cNvPr name="TextBox 10" id="10"/>
          <p:cNvSpPr txBox="true"/>
          <p:nvPr/>
        </p:nvSpPr>
        <p:spPr>
          <a:xfrm rot="0">
            <a:off x="4374469" y="2439468"/>
            <a:ext cx="8909703" cy="6438980"/>
          </a:xfrm>
          <a:prstGeom prst="rect">
            <a:avLst/>
          </a:prstGeom>
        </p:spPr>
        <p:txBody>
          <a:bodyPr anchor="t" rtlCol="false" tIns="0" lIns="0" bIns="0" rIns="0">
            <a:spAutoFit/>
          </a:bodyPr>
          <a:lstStyle/>
          <a:p>
            <a:pPr algn="ctr">
              <a:lnSpc>
                <a:spcPts val="5245"/>
              </a:lnSpc>
            </a:pPr>
            <a:r>
              <a:rPr lang="en-US" sz="3746">
                <a:solidFill>
                  <a:srgbClr val="2B4B82"/>
                </a:solidFill>
                <a:latin typeface="Clear Sans"/>
              </a:rPr>
              <a:t>We gathered the Evaluation metrics data like the Precision, Recall and F1 Score from our retrieval system for 4 different queries for 6 distinct documents and showed the results using the </a:t>
            </a:r>
          </a:p>
          <a:p>
            <a:pPr algn="ctr">
              <a:lnSpc>
                <a:spcPts val="5245"/>
              </a:lnSpc>
            </a:pPr>
            <a:r>
              <a:rPr lang="en-US" sz="3746" u="sng">
                <a:solidFill>
                  <a:srgbClr val="2B4B82"/>
                </a:solidFill>
                <a:latin typeface="Clear Sans"/>
                <a:hlinkClick r:id="rId10" tooltip="https://public.tableau.com/app/profile/ghazal.almidana/viz/InformationRetieval/Dashboard1"/>
              </a:rPr>
              <a:t>Dashboard.</a:t>
            </a:r>
          </a:p>
          <a:p>
            <a:pPr algn="ctr">
              <a:lnSpc>
                <a:spcPts val="5245"/>
              </a:lnSpc>
            </a:pPr>
          </a:p>
          <a:p>
            <a:pPr algn="ctr">
              <a:lnSpc>
                <a:spcPts val="4405"/>
              </a:lnSpc>
            </a:pPr>
          </a:p>
          <a:p>
            <a:pPr algn="ctr">
              <a:lnSpc>
                <a:spcPts val="5245"/>
              </a:lnSpc>
            </a:pPr>
          </a:p>
          <a:p>
            <a:pPr algn="ctr">
              <a:lnSpc>
                <a:spcPts val="5245"/>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B4A7"/>
        </a:solidFill>
      </p:bgPr>
    </p:bg>
    <p:spTree>
      <p:nvGrpSpPr>
        <p:cNvPr id="1" name=""/>
        <p:cNvGrpSpPr/>
        <p:nvPr/>
      </p:nvGrpSpPr>
      <p:grpSpPr>
        <a:xfrm>
          <a:off x="0" y="0"/>
          <a:ext cx="0" cy="0"/>
          <a:chOff x="0" y="0"/>
          <a:chExt cx="0" cy="0"/>
        </a:xfrm>
      </p:grpSpPr>
      <p:sp>
        <p:nvSpPr>
          <p:cNvPr name="Freeform 2" id="2"/>
          <p:cNvSpPr/>
          <p:nvPr/>
        </p:nvSpPr>
        <p:spPr>
          <a:xfrm flipH="false" flipV="false" rot="0">
            <a:off x="13657572" y="-1095217"/>
            <a:ext cx="5200256" cy="5376204"/>
          </a:xfrm>
          <a:custGeom>
            <a:avLst/>
            <a:gdLst/>
            <a:ahLst/>
            <a:cxnLst/>
            <a:rect r="r" b="b" t="t" l="l"/>
            <a:pathLst>
              <a:path h="5376204" w="5200256">
                <a:moveTo>
                  <a:pt x="0" y="0"/>
                </a:moveTo>
                <a:lnTo>
                  <a:pt x="5200256" y="0"/>
                </a:lnTo>
                <a:lnTo>
                  <a:pt x="5200256" y="5376205"/>
                </a:lnTo>
                <a:lnTo>
                  <a:pt x="0" y="53762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592885"/>
            <a:ext cx="9569415" cy="1667072"/>
            <a:chOff x="0" y="0"/>
            <a:chExt cx="12759220" cy="2222763"/>
          </a:xfrm>
        </p:grpSpPr>
        <p:sp>
          <p:nvSpPr>
            <p:cNvPr name="TextBox 4" id="4"/>
            <p:cNvSpPr txBox="true"/>
            <p:nvPr/>
          </p:nvSpPr>
          <p:spPr>
            <a:xfrm rot="0">
              <a:off x="0" y="85725"/>
              <a:ext cx="12759220" cy="1207135"/>
            </a:xfrm>
            <a:prstGeom prst="rect">
              <a:avLst/>
            </a:prstGeom>
          </p:spPr>
          <p:txBody>
            <a:bodyPr anchor="t" rtlCol="false" tIns="0" lIns="0" bIns="0" rIns="0">
              <a:spAutoFit/>
            </a:bodyPr>
            <a:lstStyle/>
            <a:p>
              <a:pPr algn="l">
                <a:lnSpc>
                  <a:spcPts val="6719"/>
                </a:lnSpc>
              </a:pPr>
              <a:r>
                <a:rPr lang="en-US" sz="6399">
                  <a:solidFill>
                    <a:srgbClr val="2B4B82"/>
                  </a:solidFill>
                  <a:latin typeface="Clear Sans Bold"/>
                </a:rPr>
                <a:t>Conclusion </a:t>
              </a:r>
            </a:p>
          </p:txBody>
        </p:sp>
        <p:sp>
          <p:nvSpPr>
            <p:cNvPr name="TextBox 5" id="5"/>
            <p:cNvSpPr txBox="true"/>
            <p:nvPr/>
          </p:nvSpPr>
          <p:spPr>
            <a:xfrm rot="0">
              <a:off x="0" y="1578026"/>
              <a:ext cx="12759220" cy="644737"/>
            </a:xfrm>
            <a:prstGeom prst="rect">
              <a:avLst/>
            </a:prstGeom>
          </p:spPr>
          <p:txBody>
            <a:bodyPr anchor="t" rtlCol="false" tIns="0" lIns="0" bIns="0" rIns="0">
              <a:spAutoFit/>
            </a:bodyPr>
            <a:lstStyle/>
            <a:p>
              <a:pPr algn="l">
                <a:lnSpc>
                  <a:spcPts val="4060"/>
                </a:lnSpc>
              </a:pPr>
            </a:p>
          </p:txBody>
        </p:sp>
      </p:grpSp>
      <p:sp>
        <p:nvSpPr>
          <p:cNvPr name="TextBox 6" id="6"/>
          <p:cNvSpPr txBox="true"/>
          <p:nvPr/>
        </p:nvSpPr>
        <p:spPr>
          <a:xfrm rot="0">
            <a:off x="2328392" y="3161705"/>
            <a:ext cx="11131365" cy="4821763"/>
          </a:xfrm>
          <a:prstGeom prst="rect">
            <a:avLst/>
          </a:prstGeom>
        </p:spPr>
        <p:txBody>
          <a:bodyPr anchor="t" rtlCol="false" tIns="0" lIns="0" bIns="0" rIns="0">
            <a:spAutoFit/>
          </a:bodyPr>
          <a:lstStyle/>
          <a:p>
            <a:pPr algn="ctr">
              <a:lnSpc>
                <a:spcPts val="4267"/>
              </a:lnSpc>
            </a:pPr>
            <a:r>
              <a:rPr lang="en-US" sz="3048">
                <a:solidFill>
                  <a:srgbClr val="2B4B82"/>
                </a:solidFill>
                <a:latin typeface="Canva Sans"/>
              </a:rPr>
              <a:t>The use of TF-IDF can make the system have higher efficiency in terms of retrieval process as when combined with the indexing methods. That when evaluating a system that have the tool  TF-IDF we will have higher recall and precision values and so that means having a system that can take queries to search and return back relevant and usable data for users and system like the one we implemented can be further improved and used in other domains since it is high quality.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12562715" y="4527308"/>
            <a:ext cx="4696585" cy="4730992"/>
          </a:xfrm>
          <a:custGeom>
            <a:avLst/>
            <a:gdLst/>
            <a:ahLst/>
            <a:cxnLst/>
            <a:rect r="r" b="b" t="t" l="l"/>
            <a:pathLst>
              <a:path h="4730992" w="4696585">
                <a:moveTo>
                  <a:pt x="0" y="0"/>
                </a:moveTo>
                <a:lnTo>
                  <a:pt x="4696585" y="0"/>
                </a:lnTo>
                <a:lnTo>
                  <a:pt x="4696585" y="4730992"/>
                </a:lnTo>
                <a:lnTo>
                  <a:pt x="0" y="4730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43909" y="1826970"/>
            <a:ext cx="13281276" cy="5400675"/>
          </a:xfrm>
          <a:prstGeom prst="rect">
            <a:avLst/>
          </a:prstGeom>
        </p:spPr>
        <p:txBody>
          <a:bodyPr anchor="t" rtlCol="false" tIns="0" lIns="0" bIns="0" rIns="0">
            <a:spAutoFit/>
          </a:bodyPr>
          <a:lstStyle/>
          <a:p>
            <a:pPr algn="l">
              <a:lnSpc>
                <a:spcPts val="6119"/>
              </a:lnSpc>
            </a:pPr>
            <a:r>
              <a:rPr lang="en-US" sz="5099">
                <a:solidFill>
                  <a:srgbClr val="94DDDE"/>
                </a:solidFill>
                <a:latin typeface="Clear Sans Bold"/>
              </a:rPr>
              <a:t>THANKS!</a:t>
            </a:r>
          </a:p>
          <a:p>
            <a:pPr algn="l">
              <a:lnSpc>
                <a:spcPts val="6119"/>
              </a:lnSpc>
            </a:pPr>
          </a:p>
          <a:p>
            <a:pPr algn="l">
              <a:lnSpc>
                <a:spcPts val="6119"/>
              </a:lnSpc>
            </a:pPr>
            <a:r>
              <a:rPr lang="en-US" sz="5099">
                <a:solidFill>
                  <a:srgbClr val="F7B4A7"/>
                </a:solidFill>
                <a:latin typeface="Clear Sans Bold"/>
              </a:rPr>
              <a:t>Made By: </a:t>
            </a:r>
          </a:p>
          <a:p>
            <a:pPr algn="l">
              <a:lnSpc>
                <a:spcPts val="6119"/>
              </a:lnSpc>
            </a:pPr>
            <a:r>
              <a:rPr lang="en-US" sz="5099">
                <a:solidFill>
                  <a:srgbClr val="F7B4A7"/>
                </a:solidFill>
                <a:latin typeface="Clear Sans Bold"/>
              </a:rPr>
              <a:t>Ghazal Helal - Ayat Omar - Zaid Eltabatebi </a:t>
            </a:r>
          </a:p>
          <a:p>
            <a:pPr algn="l">
              <a:lnSpc>
                <a:spcPts val="6119"/>
              </a:lnSpc>
            </a:pPr>
          </a:p>
          <a:p>
            <a:pPr algn="l">
              <a:lnSpc>
                <a:spcPts val="6119"/>
              </a:lnSpc>
            </a:pPr>
          </a:p>
          <a:p>
            <a:pPr algn="l">
              <a:lnSpc>
                <a:spcPts val="6119"/>
              </a:lnSpc>
            </a:pPr>
          </a:p>
        </p:txBody>
      </p:sp>
      <p:sp>
        <p:nvSpPr>
          <p:cNvPr name="TextBox 4" id="4"/>
          <p:cNvSpPr txBox="true"/>
          <p:nvPr/>
        </p:nvSpPr>
        <p:spPr>
          <a:xfrm rot="0">
            <a:off x="443909" y="5246767"/>
            <a:ext cx="12562715" cy="2680335"/>
          </a:xfrm>
          <a:prstGeom prst="rect">
            <a:avLst/>
          </a:prstGeom>
        </p:spPr>
        <p:txBody>
          <a:bodyPr anchor="t" rtlCol="false" tIns="0" lIns="0" bIns="0" rIns="0">
            <a:spAutoFit/>
          </a:bodyPr>
          <a:lstStyle/>
          <a:p>
            <a:pPr algn="l">
              <a:lnSpc>
                <a:spcPts val="7139"/>
              </a:lnSpc>
            </a:pPr>
            <a:r>
              <a:rPr lang="en-US" sz="5100">
                <a:solidFill>
                  <a:srgbClr val="94DDDE"/>
                </a:solidFill>
                <a:latin typeface="Clear Sans Bold"/>
              </a:rPr>
              <a:t>Instructor: Dr.Ola Al-Surakhi</a:t>
            </a:r>
          </a:p>
          <a:p>
            <a:pPr algn="l">
              <a:lnSpc>
                <a:spcPts val="7139"/>
              </a:lnSpc>
            </a:pPr>
            <a:r>
              <a:rPr lang="en-US" sz="5100">
                <a:solidFill>
                  <a:srgbClr val="94DDDE"/>
                </a:solidFill>
                <a:latin typeface="Clear Sans Bold"/>
              </a:rPr>
              <a:t>Information Retrieval</a:t>
            </a:r>
          </a:p>
          <a:p>
            <a:pPr algn="ctr">
              <a:lnSpc>
                <a:spcPts val="713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DAGG_nYMZYw</dc:identifier>
  <dcterms:modified xsi:type="dcterms:W3CDTF">2011-08-01T06:04:30Z</dcterms:modified>
  <cp:revision>1</cp:revision>
  <dc:title>Technology in Education Technology Presentation in Blue Peach Illustrative Style</dc:title>
</cp:coreProperties>
</file>